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embeddedFontLst>
    <p:embeddedFont>
      <p:font typeface="Play"/>
      <p:regular r:id="rId24"/>
      <p:bold r:id="rId25"/>
    </p:embeddedFont>
    <p:embeddedFont>
      <p:font typeface="Montserrat"/>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13433A-8D1D-48C4-8CB8-730B62CA9680}">
  <a:tblStyle styleId="{D713433A-8D1D-48C4-8CB8-730B62CA968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70980C3-661A-4D39-BCB1-3EE8E9E15DCA}"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Play-regular.fntdata"/><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ontserrat-regular.fntdata"/><Relationship Id="rId25" Type="http://schemas.openxmlformats.org/officeDocument/2006/relationships/font" Target="fonts/Play-bold.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4.xml"/><Relationship Id="rId33" Type="http://schemas.openxmlformats.org/officeDocument/2006/relationships/font" Target="fonts/Lato-boldItalic.fntdata"/><Relationship Id="rId10" Type="http://schemas.openxmlformats.org/officeDocument/2006/relationships/slide" Target="slides/slide3.xml"/><Relationship Id="rId32" Type="http://schemas.openxmlformats.org/officeDocument/2006/relationships/font" Target="fonts/Lato-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5434a2e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5434a2e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60247c05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f60247c05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5434a2e5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5434a2e5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5c054e1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5c054e1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b8b2ccd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b8b2ccd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5cac1fce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f5cac1fce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5afa8558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f5afa8558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5afa85583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f5afa85583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5afa85583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f5afa85583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f5afa85583_4_1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g3f5afa85583_4_1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a:t>Elegimos Bubble Sort y Quick Sort porque permiten mostrar una diferencia clara. Bubble Sort compara vecinos y es simple, pero poco eficiente para tamaños grandes. Quick Sort divide el problema usando un pivote y ordena cada parte recursivamente, por eso en promedio escala mejor.</a:t>
            </a:r>
            <a:endParaRPr/>
          </a:p>
        </p:txBody>
      </p:sp>
      <p:sp>
        <p:nvSpPr>
          <p:cNvPr id="317" name="Google Shape;317;g3f5afa85583_4_1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5afa85583_4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3f5afa85583_4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a:t>El objetivo fue cumplir con el Tema 2. Para eso implementamos dos algoritmos en los dos lenguajes asignados. Medimos el tiempo de ejecución y después analizamos por qué un algoritmo o una implementación puede rendir mejor que otra.</a:t>
            </a:r>
            <a:endParaRPr/>
          </a:p>
        </p:txBody>
      </p:sp>
      <p:sp>
        <p:nvSpPr>
          <p:cNvPr id="330" name="Google Shape;330;g3f5afa85583_4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5afa85583_4_3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f5afa85583_4_3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a:t>Para que la comparación fuera lo más justa posible, hicimos varias decisiones. No usamos funciones sort del lenguaje, porque eso compararía implementaciones internas. Generamos los mismos datos en cada ejecución y repetimos cada medición cinco veces para obtener un promedio. También verificamos que el arreglo quedara ordenado, así nos aseguramos de no medir un algoritmo incorrecto.</a:t>
            </a:r>
            <a:endParaRPr/>
          </a:p>
        </p:txBody>
      </p:sp>
      <p:sp>
        <p:nvSpPr>
          <p:cNvPr id="344" name="Google Shape;344;g3f5afa85583_4_3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f5afa85583_4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f5afa85583_4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a:t>Estos son los resultados que obtuvimos. En Bubble Sort, con mil elementos ganó VB.NET, pero con tres mil y cinco mil elementos ganó Kotlin. En Quick Sort, Kotlin fue más rápido en todos los tamaños medidos. También se observa que Quick Sort permite trabajar con tamaños mucho mayores manteniendo tiempos bajos.</a:t>
            </a:r>
            <a:endParaRPr/>
          </a:p>
        </p:txBody>
      </p:sp>
      <p:sp>
        <p:nvSpPr>
          <p:cNvPr id="353" name="Google Shape;353;g3f5afa85583_4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5afa85583_4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f5afa85583_4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a:t>Como conclusión, Quick Sort fue más eficiente que Bubble Sort. Kotlin fue más rápido en la mayoría de nuestras pruebas, especialmente en Quick Sort. Pero el punto más importante es que el rendimiento no depende solamente del lenguaje. También depende del algoritmo, de la implementación y del entorno donde se ejecuta.</a:t>
            </a:r>
            <a:endParaRPr/>
          </a:p>
        </p:txBody>
      </p:sp>
      <p:sp>
        <p:nvSpPr>
          <p:cNvPr id="367" name="Google Shape;367;g3f5afa85583_4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63bfdd4c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f63bfdd4c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1" name="Shape 1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5"/>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Kotlin Vs VB.</a:t>
            </a:r>
            <a:r>
              <a:rPr lang="es"/>
              <a:t>NET</a:t>
            </a:r>
            <a:endParaRPr/>
          </a:p>
        </p:txBody>
      </p:sp>
      <p:sp>
        <p:nvSpPr>
          <p:cNvPr id="137" name="Google Shape;137;p15"/>
          <p:cNvSpPr txBox="1"/>
          <p:nvPr>
            <p:ph idx="1" type="subTitle"/>
          </p:nvPr>
        </p:nvSpPr>
        <p:spPr>
          <a:xfrm>
            <a:off x="4932200" y="3220325"/>
            <a:ext cx="46098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Grupo 15 :</a:t>
            </a:r>
            <a:endParaRPr/>
          </a:p>
          <a:p>
            <a:pPr indent="0" lvl="0" marL="457200" rtl="0" algn="l">
              <a:spcBef>
                <a:spcPts val="0"/>
              </a:spcBef>
              <a:spcAft>
                <a:spcPts val="0"/>
              </a:spcAft>
              <a:buNone/>
            </a:pPr>
            <a:r>
              <a:t/>
            </a:r>
            <a:endParaRPr/>
          </a:p>
          <a:p>
            <a:pPr indent="-311150" lvl="0" marL="457200" rtl="0" algn="l">
              <a:spcBef>
                <a:spcPts val="0"/>
              </a:spcBef>
              <a:spcAft>
                <a:spcPts val="0"/>
              </a:spcAft>
              <a:buSzPts val="1300"/>
              <a:buChar char="●"/>
            </a:pPr>
            <a:r>
              <a:rPr lang="es"/>
              <a:t> Ojeda Alejandro Ezequiel</a:t>
            </a:r>
            <a:endParaRPr/>
          </a:p>
          <a:p>
            <a:pPr indent="-311150" lvl="0" marL="457200" rtl="0" algn="l">
              <a:spcBef>
                <a:spcPts val="0"/>
              </a:spcBef>
              <a:spcAft>
                <a:spcPts val="0"/>
              </a:spcAft>
              <a:buSzPts val="1300"/>
              <a:buChar char="●"/>
            </a:pPr>
            <a:r>
              <a:rPr lang="es"/>
              <a:t> Kevin Ezequiel Suarez</a:t>
            </a:r>
            <a:endParaRPr/>
          </a:p>
          <a:p>
            <a:pPr indent="-311150" lvl="0" marL="457200" rtl="0" algn="l">
              <a:spcBef>
                <a:spcPts val="0"/>
              </a:spcBef>
              <a:spcAft>
                <a:spcPts val="0"/>
              </a:spcAft>
              <a:buSzPts val="1300"/>
              <a:buChar char="●"/>
            </a:pPr>
            <a:r>
              <a:rPr lang="es"/>
              <a:t> Lautaro Ismael Espinoza</a:t>
            </a:r>
            <a:endParaRPr/>
          </a:p>
          <a:p>
            <a:pPr indent="-311150" lvl="0" marL="457200" rtl="0" algn="l">
              <a:spcBef>
                <a:spcPts val="0"/>
              </a:spcBef>
              <a:spcAft>
                <a:spcPts val="0"/>
              </a:spcAft>
              <a:buSzPts val="1300"/>
              <a:buChar char="●"/>
            </a:pPr>
            <a:r>
              <a:rPr lang="es"/>
              <a:t> Gabriel Damian Gomez</a:t>
            </a:r>
            <a:endParaRPr/>
          </a:p>
          <a:p>
            <a:pPr indent="-311150" lvl="0" marL="457200" rtl="0" algn="l">
              <a:spcBef>
                <a:spcPts val="0"/>
              </a:spcBef>
              <a:spcAft>
                <a:spcPts val="0"/>
              </a:spcAft>
              <a:buSzPts val="1300"/>
              <a:buChar char="●"/>
            </a:pPr>
            <a:r>
              <a:rPr lang="es"/>
              <a:t> María Victoria Poggio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txBox="1"/>
          <p:nvPr>
            <p:ph type="title"/>
          </p:nvPr>
        </p:nvSpPr>
        <p:spPr>
          <a:xfrm>
            <a:off x="1297500" y="393750"/>
            <a:ext cx="4457100" cy="78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Introducción a Kotlin</a:t>
            </a:r>
            <a:endParaRPr/>
          </a:p>
        </p:txBody>
      </p:sp>
      <p:sp>
        <p:nvSpPr>
          <p:cNvPr id="143" name="Google Shape;143;p16"/>
          <p:cNvSpPr txBox="1"/>
          <p:nvPr>
            <p:ph idx="1" type="body"/>
          </p:nvPr>
        </p:nvSpPr>
        <p:spPr>
          <a:xfrm>
            <a:off x="161900" y="1342350"/>
            <a:ext cx="5409300" cy="36783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853"/>
              <a:buNone/>
            </a:pPr>
            <a:r>
              <a:rPr b="1" lang="es" sz="1671">
                <a:latin typeface="Times New Roman"/>
                <a:ea typeface="Times New Roman"/>
                <a:cs typeface="Times New Roman"/>
                <a:sym typeface="Times New Roman"/>
              </a:rPr>
              <a:t>Kotlin</a:t>
            </a:r>
            <a:r>
              <a:rPr lang="es" sz="1671">
                <a:latin typeface="Times New Roman"/>
                <a:ea typeface="Times New Roman"/>
                <a:cs typeface="Times New Roman"/>
                <a:sym typeface="Times New Roman"/>
              </a:rPr>
              <a:t> es un lenguaje de programación moderno, desarrollado por </a:t>
            </a:r>
            <a:r>
              <a:rPr b="1" lang="es" sz="1671">
                <a:latin typeface="Times New Roman"/>
                <a:ea typeface="Times New Roman"/>
                <a:cs typeface="Times New Roman"/>
                <a:sym typeface="Times New Roman"/>
              </a:rPr>
              <a:t>JetBrains</a:t>
            </a:r>
            <a:r>
              <a:rPr lang="es" sz="1671">
                <a:latin typeface="Times New Roman"/>
                <a:ea typeface="Times New Roman"/>
                <a:cs typeface="Times New Roman"/>
                <a:sym typeface="Times New Roman"/>
              </a:rPr>
              <a:t>. F</a:t>
            </a:r>
            <a:r>
              <a:rPr lang="es" sz="1671">
                <a:latin typeface="Times New Roman"/>
                <a:ea typeface="Times New Roman"/>
                <a:cs typeface="Times New Roman"/>
                <a:sym typeface="Times New Roman"/>
              </a:rPr>
              <a:t>ue presentado en el año </a:t>
            </a:r>
            <a:r>
              <a:rPr b="1" lang="es" sz="1671">
                <a:latin typeface="Times New Roman"/>
                <a:ea typeface="Times New Roman"/>
                <a:cs typeface="Times New Roman"/>
                <a:sym typeface="Times New Roman"/>
              </a:rPr>
              <a:t>2011</a:t>
            </a:r>
            <a:r>
              <a:rPr lang="es" sz="1671">
                <a:latin typeface="Times New Roman"/>
                <a:ea typeface="Times New Roman"/>
                <a:cs typeface="Times New Roman"/>
                <a:sym typeface="Times New Roman"/>
              </a:rPr>
              <a:t> como un nuevo lenguaje pensado para mejorar la productividad de los desarrolladores.</a:t>
            </a:r>
            <a:endParaRPr sz="1671">
              <a:latin typeface="Times New Roman"/>
              <a:ea typeface="Times New Roman"/>
              <a:cs typeface="Times New Roman"/>
              <a:sym typeface="Times New Roman"/>
            </a:endParaRPr>
          </a:p>
          <a:p>
            <a:pPr indent="0" lvl="0" marL="0" rtl="0" algn="l">
              <a:lnSpc>
                <a:spcPct val="105000"/>
              </a:lnSpc>
              <a:spcBef>
                <a:spcPts val="1200"/>
              </a:spcBef>
              <a:spcAft>
                <a:spcPts val="0"/>
              </a:spcAft>
              <a:buSzPts val="853"/>
              <a:buNone/>
            </a:pPr>
            <a:r>
              <a:rPr lang="es" sz="1671">
                <a:latin typeface="Times New Roman"/>
                <a:ea typeface="Times New Roman"/>
                <a:cs typeface="Times New Roman"/>
                <a:sym typeface="Times New Roman"/>
              </a:rPr>
              <a:t>Se destaca por buscar una sintaxis más concisa, segura y práctica para el desarrollo de software. </a:t>
            </a:r>
            <a:r>
              <a:rPr lang="es" sz="1671">
                <a:latin typeface="Times New Roman"/>
                <a:ea typeface="Times New Roman"/>
                <a:cs typeface="Times New Roman"/>
                <a:sym typeface="Times New Roman"/>
              </a:rPr>
              <a:t>Kotlin es un lenguaje que puede utilizarse en distintos tipos de proyectos. Por ejemplo aplicaciones Android, aplicaciones de escritorio o desarrollo web;</a:t>
            </a:r>
            <a:endParaRPr sz="1671">
              <a:latin typeface="Times New Roman"/>
              <a:ea typeface="Times New Roman"/>
              <a:cs typeface="Times New Roman"/>
              <a:sym typeface="Times New Roman"/>
            </a:endParaRPr>
          </a:p>
          <a:p>
            <a:pPr indent="0" lvl="0" marL="0" rtl="0" algn="l">
              <a:lnSpc>
                <a:spcPct val="105000"/>
              </a:lnSpc>
              <a:spcBef>
                <a:spcPts val="1200"/>
              </a:spcBef>
              <a:spcAft>
                <a:spcPts val="0"/>
              </a:spcAft>
              <a:buSzPts val="853"/>
              <a:buNone/>
            </a:pPr>
            <a:r>
              <a:rPr lang="es" sz="1671">
                <a:latin typeface="Times New Roman"/>
                <a:ea typeface="Times New Roman"/>
                <a:cs typeface="Times New Roman"/>
                <a:sym typeface="Times New Roman"/>
              </a:rPr>
              <a:t>Una de sus principales ventajas es que puede trabajar junto con código Java, lo que facilita su adopción en proyectos ya existentes.</a:t>
            </a:r>
            <a:endParaRPr sz="1671">
              <a:latin typeface="Times New Roman"/>
              <a:ea typeface="Times New Roman"/>
              <a:cs typeface="Times New Roman"/>
              <a:sym typeface="Times New Roman"/>
            </a:endParaRPr>
          </a:p>
          <a:p>
            <a:pPr indent="0" lvl="0" marL="0" rtl="0" algn="l">
              <a:lnSpc>
                <a:spcPct val="105000"/>
              </a:lnSpc>
              <a:spcBef>
                <a:spcPts val="1200"/>
              </a:spcBef>
              <a:spcAft>
                <a:spcPts val="1200"/>
              </a:spcAft>
              <a:buSzPts val="853"/>
              <a:buNone/>
            </a:pPr>
            <a:r>
              <a:t/>
            </a:r>
            <a:endParaRPr sz="1008"/>
          </a:p>
        </p:txBody>
      </p:sp>
      <p:sp>
        <p:nvSpPr>
          <p:cNvPr id="144" name="Google Shape;144;p16"/>
          <p:cNvSpPr txBox="1"/>
          <p:nvPr/>
        </p:nvSpPr>
        <p:spPr>
          <a:xfrm>
            <a:off x="5754500" y="1439850"/>
            <a:ext cx="3184800" cy="348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sz="1800" u="sng">
                <a:solidFill>
                  <a:schemeClr val="lt1"/>
                </a:solidFill>
                <a:latin typeface="Times New Roman"/>
                <a:ea typeface="Times New Roman"/>
                <a:cs typeface="Times New Roman"/>
                <a:sym typeface="Times New Roman"/>
              </a:rPr>
              <a:t>Características</a:t>
            </a:r>
            <a:r>
              <a:rPr lang="es" sz="1800" u="sng">
                <a:solidFill>
                  <a:schemeClr val="lt1"/>
                </a:solidFill>
                <a:latin typeface="Times New Roman"/>
                <a:ea typeface="Times New Roman"/>
                <a:cs typeface="Times New Roman"/>
                <a:sym typeface="Times New Roman"/>
              </a:rPr>
              <a:t>:</a:t>
            </a:r>
            <a:endParaRPr sz="1800" u="sng">
              <a:solidFill>
                <a:schemeClr val="lt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SzPts val="1600"/>
              <a:buFont typeface="Times New Roman"/>
              <a:buChar char="●"/>
            </a:pPr>
            <a:r>
              <a:rPr lang="es" sz="1800">
                <a:solidFill>
                  <a:schemeClr val="lt1"/>
                </a:solidFill>
                <a:latin typeface="Times New Roman"/>
                <a:ea typeface="Times New Roman"/>
                <a:cs typeface="Times New Roman"/>
                <a:sym typeface="Times New Roman"/>
              </a:rPr>
              <a:t>Tipado estático;</a:t>
            </a:r>
            <a:endParaRPr sz="1800">
              <a:solidFill>
                <a:schemeClr val="lt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s" sz="1800">
                <a:solidFill>
                  <a:schemeClr val="lt1"/>
                </a:solidFill>
                <a:latin typeface="Times New Roman"/>
                <a:ea typeface="Times New Roman"/>
                <a:cs typeface="Times New Roman"/>
                <a:sym typeface="Times New Roman"/>
              </a:rPr>
              <a:t>Soporte para programación orientada a objetos;</a:t>
            </a:r>
            <a:endParaRPr sz="1800">
              <a:solidFill>
                <a:schemeClr val="lt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s" sz="1800">
                <a:solidFill>
                  <a:schemeClr val="lt1"/>
                </a:solidFill>
                <a:latin typeface="Times New Roman"/>
                <a:ea typeface="Times New Roman"/>
                <a:cs typeface="Times New Roman"/>
                <a:sym typeface="Times New Roman"/>
              </a:rPr>
              <a:t>Soporte para características de programación funcional;</a:t>
            </a:r>
            <a:endParaRPr sz="1800">
              <a:solidFill>
                <a:schemeClr val="lt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s" sz="1800">
                <a:solidFill>
                  <a:schemeClr val="lt1"/>
                </a:solidFill>
                <a:latin typeface="Times New Roman"/>
                <a:ea typeface="Times New Roman"/>
                <a:cs typeface="Times New Roman"/>
                <a:sym typeface="Times New Roman"/>
              </a:rPr>
              <a:t>Posibilidad de desarrollo multiplataforma.</a:t>
            </a:r>
            <a:endParaRPr sz="1800">
              <a:solidFill>
                <a:schemeClr val="lt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s" sz="1800">
                <a:solidFill>
                  <a:schemeClr val="lt1"/>
                </a:solidFill>
                <a:latin typeface="Times New Roman"/>
                <a:ea typeface="Times New Roman"/>
                <a:cs typeface="Times New Roman"/>
                <a:sym typeface="Times New Roman"/>
              </a:rPr>
              <a:t>Existencia de variables de </a:t>
            </a:r>
            <a:r>
              <a:rPr lang="es" sz="1800">
                <a:solidFill>
                  <a:schemeClr val="lt1"/>
                </a:solidFill>
                <a:latin typeface="Times New Roman"/>
                <a:ea typeface="Times New Roman"/>
                <a:cs typeface="Times New Roman"/>
                <a:sym typeface="Times New Roman"/>
              </a:rPr>
              <a:t>sólo</a:t>
            </a:r>
            <a:r>
              <a:rPr lang="es" sz="1800">
                <a:solidFill>
                  <a:schemeClr val="lt1"/>
                </a:solidFill>
                <a:latin typeface="Times New Roman"/>
                <a:ea typeface="Times New Roman"/>
                <a:cs typeface="Times New Roman"/>
                <a:sym typeface="Times New Roman"/>
              </a:rPr>
              <a:t> lectura.(val)</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title"/>
          </p:nvPr>
        </p:nvSpPr>
        <p:spPr>
          <a:xfrm>
            <a:off x="1297500" y="393750"/>
            <a:ext cx="7038900" cy="506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Mención de VB.NET</a:t>
            </a:r>
            <a:endParaRPr/>
          </a:p>
        </p:txBody>
      </p:sp>
      <p:sp>
        <p:nvSpPr>
          <p:cNvPr id="150" name="Google Shape;150;p17"/>
          <p:cNvSpPr txBox="1"/>
          <p:nvPr>
            <p:ph idx="1" type="body"/>
          </p:nvPr>
        </p:nvSpPr>
        <p:spPr>
          <a:xfrm>
            <a:off x="457200" y="1267525"/>
            <a:ext cx="4556700" cy="33960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SzPts val="935"/>
              <a:buNone/>
            </a:pPr>
            <a:r>
              <a:rPr b="1" lang="es" sz="1723">
                <a:latin typeface="Times New Roman"/>
                <a:ea typeface="Times New Roman"/>
                <a:cs typeface="Times New Roman"/>
                <a:sym typeface="Times New Roman"/>
              </a:rPr>
              <a:t>VB.NET</a:t>
            </a:r>
            <a:r>
              <a:rPr lang="es" sz="1723">
                <a:latin typeface="Times New Roman"/>
                <a:ea typeface="Times New Roman"/>
                <a:cs typeface="Times New Roman"/>
                <a:sym typeface="Times New Roman"/>
              </a:rPr>
              <a:t> es un lenguaje de programación orientado a objetos, desarrollado por </a:t>
            </a:r>
            <a:r>
              <a:rPr b="1" lang="es" sz="1723">
                <a:latin typeface="Times New Roman"/>
                <a:ea typeface="Times New Roman"/>
                <a:cs typeface="Times New Roman"/>
                <a:sym typeface="Times New Roman"/>
              </a:rPr>
              <a:t>Microsoft</a:t>
            </a:r>
            <a:r>
              <a:rPr lang="es" sz="1723">
                <a:latin typeface="Times New Roman"/>
                <a:ea typeface="Times New Roman"/>
                <a:cs typeface="Times New Roman"/>
                <a:sym typeface="Times New Roman"/>
              </a:rPr>
              <a:t>, y es el sucesor de </a:t>
            </a:r>
            <a:r>
              <a:rPr b="1" lang="es" sz="1723">
                <a:latin typeface="Times New Roman"/>
                <a:ea typeface="Times New Roman"/>
                <a:cs typeface="Times New Roman"/>
                <a:sym typeface="Times New Roman"/>
              </a:rPr>
              <a:t>Visual Basic (VB6)</a:t>
            </a:r>
            <a:r>
              <a:rPr lang="es" sz="1723">
                <a:latin typeface="Times New Roman"/>
                <a:ea typeface="Times New Roman"/>
                <a:cs typeface="Times New Roman"/>
                <a:sym typeface="Times New Roman"/>
              </a:rPr>
              <a:t>. </a:t>
            </a:r>
            <a:endParaRPr sz="1723">
              <a:latin typeface="Times New Roman"/>
              <a:ea typeface="Times New Roman"/>
              <a:cs typeface="Times New Roman"/>
              <a:sym typeface="Times New Roman"/>
            </a:endParaRPr>
          </a:p>
          <a:p>
            <a:pPr indent="0" lvl="0" marL="0" rtl="0" algn="just">
              <a:spcBef>
                <a:spcPts val="1200"/>
              </a:spcBef>
              <a:spcAft>
                <a:spcPts val="0"/>
              </a:spcAft>
              <a:buSzPts val="935"/>
              <a:buNone/>
            </a:pPr>
            <a:r>
              <a:rPr lang="es" sz="1723">
                <a:latin typeface="Times New Roman"/>
                <a:ea typeface="Times New Roman"/>
                <a:cs typeface="Times New Roman"/>
                <a:sym typeface="Times New Roman"/>
              </a:rPr>
              <a:t>Fue diseñado para integrar un lenguaje tradicional dentro del entorno .NET, y permitirle correr sobre el motor </a:t>
            </a:r>
            <a:r>
              <a:rPr b="1" lang="es" sz="1723">
                <a:latin typeface="Times New Roman"/>
                <a:ea typeface="Times New Roman"/>
                <a:cs typeface="Times New Roman"/>
                <a:sym typeface="Times New Roman"/>
              </a:rPr>
              <a:t>CLR.</a:t>
            </a:r>
            <a:endParaRPr sz="1723">
              <a:latin typeface="Times New Roman"/>
              <a:ea typeface="Times New Roman"/>
              <a:cs typeface="Times New Roman"/>
              <a:sym typeface="Times New Roman"/>
            </a:endParaRPr>
          </a:p>
          <a:p>
            <a:pPr indent="-338011" lvl="0" marL="457200" rtl="0" algn="l">
              <a:spcBef>
                <a:spcPts val="1200"/>
              </a:spcBef>
              <a:spcAft>
                <a:spcPts val="0"/>
              </a:spcAft>
              <a:buSzPts val="1723"/>
              <a:buFont typeface="Times New Roman"/>
              <a:buChar char="●"/>
            </a:pPr>
            <a:r>
              <a:rPr lang="es" sz="1723">
                <a:latin typeface="Times New Roman"/>
                <a:ea typeface="Times New Roman"/>
                <a:cs typeface="Times New Roman"/>
                <a:sym typeface="Times New Roman"/>
              </a:rPr>
              <a:t>comparte potencia y librerías con C#;</a:t>
            </a:r>
            <a:endParaRPr sz="1723">
              <a:latin typeface="Times New Roman"/>
              <a:ea typeface="Times New Roman"/>
              <a:cs typeface="Times New Roman"/>
              <a:sym typeface="Times New Roman"/>
            </a:endParaRPr>
          </a:p>
          <a:p>
            <a:pPr indent="-338011" lvl="0" marL="457200" rtl="0" algn="l">
              <a:spcBef>
                <a:spcPts val="0"/>
              </a:spcBef>
              <a:spcAft>
                <a:spcPts val="0"/>
              </a:spcAft>
              <a:buSzPts val="1723"/>
              <a:buFont typeface="Times New Roman"/>
              <a:buChar char="●"/>
            </a:pPr>
            <a:r>
              <a:rPr lang="es" sz="1723">
                <a:latin typeface="Times New Roman"/>
                <a:ea typeface="Times New Roman"/>
                <a:cs typeface="Times New Roman"/>
                <a:sym typeface="Times New Roman"/>
              </a:rPr>
              <a:t>es un pilar fundamental en el mantenimiento y desarrollo de sistemas empresariales.</a:t>
            </a:r>
            <a:endParaRPr sz="1105"/>
          </a:p>
        </p:txBody>
      </p:sp>
      <p:sp>
        <p:nvSpPr>
          <p:cNvPr id="151" name="Google Shape;151;p17"/>
          <p:cNvSpPr txBox="1"/>
          <p:nvPr>
            <p:ph idx="1" type="body"/>
          </p:nvPr>
        </p:nvSpPr>
        <p:spPr>
          <a:xfrm>
            <a:off x="5138750" y="1267525"/>
            <a:ext cx="3883200" cy="33960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s" sz="1700" u="sng">
                <a:latin typeface="Times New Roman"/>
                <a:ea typeface="Times New Roman"/>
                <a:cs typeface="Times New Roman"/>
                <a:sym typeface="Times New Roman"/>
              </a:rPr>
              <a:t>Características:</a:t>
            </a:r>
            <a:endParaRPr b="1" sz="1700" u="sng">
              <a:latin typeface="Times New Roman"/>
              <a:ea typeface="Times New Roman"/>
              <a:cs typeface="Times New Roman"/>
              <a:sym typeface="Times New Roman"/>
            </a:endParaRPr>
          </a:p>
          <a:p>
            <a:pPr indent="-323850" lvl="0" marL="457200" rtl="0" algn="l">
              <a:spcBef>
                <a:spcPts val="1200"/>
              </a:spcBef>
              <a:spcAft>
                <a:spcPts val="0"/>
              </a:spcAft>
              <a:buClr>
                <a:srgbClr val="000000"/>
              </a:buClr>
              <a:buSzPts val="1500"/>
              <a:buFont typeface="Times New Roman"/>
              <a:buChar char="●"/>
            </a:pPr>
            <a:r>
              <a:rPr lang="es" sz="1700">
                <a:latin typeface="Times New Roman"/>
                <a:ea typeface="Times New Roman"/>
                <a:cs typeface="Times New Roman"/>
                <a:sym typeface="Times New Roman"/>
              </a:rPr>
              <a:t>utiliza palabras clave en inglés en lugar de llaves o símbolos;</a:t>
            </a:r>
            <a:endParaRPr sz="1700">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s" sz="1700">
                <a:latin typeface="Times New Roman"/>
                <a:ea typeface="Times New Roman"/>
                <a:cs typeface="Times New Roman"/>
                <a:sym typeface="Times New Roman"/>
              </a:rPr>
              <a:t>cuenta con un compilador estricto que previene errores de tipos de forma temprana;</a:t>
            </a:r>
            <a:endParaRPr sz="1700">
              <a:latin typeface="Times New Roman"/>
              <a:ea typeface="Times New Roman"/>
              <a:cs typeface="Times New Roman"/>
              <a:sym typeface="Times New Roman"/>
            </a:endParaRPr>
          </a:p>
          <a:p>
            <a:pPr indent="-323850" lvl="0" marL="457200" rtl="0" algn="just">
              <a:spcBef>
                <a:spcPts val="0"/>
              </a:spcBef>
              <a:spcAft>
                <a:spcPts val="0"/>
              </a:spcAft>
              <a:buClr>
                <a:srgbClr val="000000"/>
              </a:buClr>
              <a:buSzPts val="1500"/>
              <a:buFont typeface="Times New Roman"/>
              <a:buChar char="●"/>
            </a:pPr>
            <a:r>
              <a:rPr lang="es" sz="1700">
                <a:latin typeface="Times New Roman"/>
                <a:ea typeface="Times New Roman"/>
                <a:cs typeface="Times New Roman"/>
                <a:sym typeface="Times New Roman"/>
              </a:rPr>
              <a:t>permite la comunicación directa con otros lenguajes del ecosistema .NET al compilar al mismo código intermedio;</a:t>
            </a:r>
            <a:endParaRPr sz="1700">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Times New Roman"/>
              <a:buChar char="●"/>
            </a:pPr>
            <a:r>
              <a:rPr lang="es" sz="1700">
                <a:latin typeface="Times New Roman"/>
                <a:ea typeface="Times New Roman"/>
                <a:cs typeface="Times New Roman"/>
                <a:sym typeface="Times New Roman"/>
              </a:rPr>
              <a:t>fuerte integración con windows</a:t>
            </a:r>
            <a:endParaRPr sz="17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800"/>
              <a:t>BNF del lenguaje Kotlin</a:t>
            </a:r>
            <a:endParaRPr sz="2800"/>
          </a:p>
        </p:txBody>
      </p:sp>
      <p:sp>
        <p:nvSpPr>
          <p:cNvPr id="157" name="Google Shape;157;p18"/>
          <p:cNvSpPr txBox="1"/>
          <p:nvPr/>
        </p:nvSpPr>
        <p:spPr>
          <a:xfrm>
            <a:off x="496850" y="2783750"/>
            <a:ext cx="8373300" cy="21858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Toda regla gramatical en Kotlin sigue la misma estructura → nombreDeLaRegla: </a:t>
            </a:r>
            <a:r>
              <a:rPr lang="es" sz="1300">
                <a:solidFill>
                  <a:schemeClr val="lt1"/>
                </a:solidFill>
                <a:latin typeface="Lato"/>
                <a:ea typeface="Lato"/>
                <a:cs typeface="Lato"/>
                <a:sym typeface="Lato"/>
              </a:rPr>
              <a:t>definiciónDeLaRegla</a:t>
            </a:r>
            <a:br>
              <a:rPr lang="es" sz="1300">
                <a:solidFill>
                  <a:schemeClr val="lt1"/>
                </a:solidFill>
                <a:latin typeface="Lato"/>
                <a:ea typeface="Lato"/>
                <a:cs typeface="Lato"/>
                <a:sym typeface="Lato"/>
              </a:rPr>
            </a:br>
            <a:endParaRPr sz="1300">
              <a:solidFill>
                <a:schemeClr val="lt1"/>
              </a:solidFill>
              <a:latin typeface="Lato"/>
              <a:ea typeface="Lato"/>
              <a:cs typeface="Lato"/>
              <a:sym typeface="Lato"/>
            </a:endParaRPr>
          </a:p>
          <a:p>
            <a:pPr indent="0" lvl="0" marL="0" rtl="0" algn="l">
              <a:spcBef>
                <a:spcPts val="0"/>
              </a:spcBef>
              <a:spcAft>
                <a:spcPts val="0"/>
              </a:spcAft>
              <a:buNone/>
            </a:pPr>
            <a:r>
              <a:rPr lang="es" sz="1300">
                <a:solidFill>
                  <a:schemeClr val="lt1"/>
                </a:solidFill>
                <a:latin typeface="Lato"/>
                <a:ea typeface="Lato"/>
                <a:cs typeface="Lato"/>
                <a:sym typeface="Lato"/>
              </a:rPr>
              <a:t>En cada regla aparecen símbolos que permite que la lectura de la regla más sencilla de entender:</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 … ] 	→  Opcional, puede o no escrito en el código</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 … } 	→  El elemento que esté dentro puede repetirse cero o más veces. Ej  { NL (salto de línea)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 …  )	→ Agrupan elementos de una regla separados por ‘ , ’ o un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 |  	→ Elección entre las diferentes alternativas</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 … ‘	→ Terminal, lo textual que debe aparecer de forma exacta en el código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	→ Separa el nombre de la regla con su definición</a:t>
            </a:r>
            <a:endParaRPr sz="1300">
              <a:solidFill>
                <a:schemeClr val="lt1"/>
              </a:solidFill>
              <a:latin typeface="Lato"/>
              <a:ea typeface="Lato"/>
              <a:cs typeface="Lato"/>
              <a:sym typeface="Lato"/>
            </a:endParaRPr>
          </a:p>
        </p:txBody>
      </p:sp>
      <p:sp>
        <p:nvSpPr>
          <p:cNvPr id="158" name="Google Shape;158;p18"/>
          <p:cNvSpPr txBox="1"/>
          <p:nvPr/>
        </p:nvSpPr>
        <p:spPr>
          <a:xfrm>
            <a:off x="496850" y="1939925"/>
            <a:ext cx="7038900" cy="7851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Kotlin </a:t>
            </a:r>
            <a:r>
              <a:rPr lang="es" sz="1300">
                <a:solidFill>
                  <a:schemeClr val="lt1"/>
                </a:solidFill>
                <a:latin typeface="Lato"/>
                <a:ea typeface="Lato"/>
                <a:cs typeface="Lato"/>
                <a:sym typeface="Lato"/>
              </a:rPr>
              <a:t>utiliza</a:t>
            </a:r>
            <a:r>
              <a:rPr lang="es" sz="1300">
                <a:solidFill>
                  <a:schemeClr val="lt1"/>
                </a:solidFill>
                <a:latin typeface="Lato"/>
                <a:ea typeface="Lato"/>
                <a:cs typeface="Lato"/>
                <a:sym typeface="Lato"/>
              </a:rPr>
              <a:t> una </a:t>
            </a:r>
            <a:r>
              <a:rPr lang="es" sz="1300">
                <a:solidFill>
                  <a:schemeClr val="lt1"/>
                </a:solidFill>
                <a:latin typeface="Lato"/>
                <a:ea typeface="Lato"/>
                <a:cs typeface="Lato"/>
                <a:sym typeface="Lato"/>
              </a:rPr>
              <a:t>notación</a:t>
            </a:r>
            <a:r>
              <a:rPr lang="es" sz="1300">
                <a:solidFill>
                  <a:schemeClr val="lt1"/>
                </a:solidFill>
                <a:latin typeface="Lato"/>
                <a:ea typeface="Lato"/>
                <a:cs typeface="Lato"/>
                <a:sym typeface="Lato"/>
              </a:rPr>
              <a:t> basada en BNF llamada EBNF la cual incluye </a:t>
            </a:r>
            <a:r>
              <a:rPr lang="es" sz="1300">
                <a:solidFill>
                  <a:schemeClr val="lt1"/>
                </a:solidFill>
                <a:latin typeface="Lato"/>
                <a:ea typeface="Lato"/>
                <a:cs typeface="Lato"/>
                <a:sym typeface="Lato"/>
              </a:rPr>
              <a:t>símbolos</a:t>
            </a:r>
            <a:r>
              <a:rPr lang="es" sz="1300">
                <a:solidFill>
                  <a:schemeClr val="lt1"/>
                </a:solidFill>
                <a:latin typeface="Lato"/>
                <a:ea typeface="Lato"/>
                <a:cs typeface="Lato"/>
                <a:sym typeface="Lato"/>
              </a:rPr>
              <a:t> especiales que permiten explicar que parte de la reglas gramaticales son opcionales, repetitivas, un grupo de elementos, alternativas y cuales son terminales. </a:t>
            </a:r>
            <a:endParaRPr sz="1300">
              <a:solidFill>
                <a:schemeClr val="lt1"/>
              </a:solidFill>
              <a:latin typeface="Lato"/>
              <a:ea typeface="Lato"/>
              <a:cs typeface="Lato"/>
              <a:sym typeface="Lato"/>
            </a:endParaRPr>
          </a:p>
        </p:txBody>
      </p:sp>
      <p:sp>
        <p:nvSpPr>
          <p:cNvPr id="159" name="Google Shape;159;p18"/>
          <p:cNvSpPr txBox="1"/>
          <p:nvPr/>
        </p:nvSpPr>
        <p:spPr>
          <a:xfrm>
            <a:off x="496850" y="1431450"/>
            <a:ext cx="8461800" cy="585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Ques es BNF? Es una </a:t>
            </a:r>
            <a:r>
              <a:rPr lang="es" sz="1300">
                <a:solidFill>
                  <a:schemeClr val="lt1"/>
                </a:solidFill>
                <a:latin typeface="Lato"/>
                <a:ea typeface="Lato"/>
                <a:cs typeface="Lato"/>
                <a:sym typeface="Lato"/>
              </a:rPr>
              <a:t>notación</a:t>
            </a:r>
            <a:r>
              <a:rPr lang="es" sz="1300">
                <a:solidFill>
                  <a:schemeClr val="lt1"/>
                </a:solidFill>
                <a:latin typeface="Lato"/>
                <a:ea typeface="Lato"/>
                <a:cs typeface="Lato"/>
                <a:sym typeface="Lato"/>
              </a:rPr>
              <a:t> formal que se utiliza para describir la </a:t>
            </a:r>
            <a:r>
              <a:rPr lang="es" sz="1300">
                <a:solidFill>
                  <a:schemeClr val="lt1"/>
                </a:solidFill>
                <a:latin typeface="Lato"/>
                <a:ea typeface="Lato"/>
                <a:cs typeface="Lato"/>
                <a:sym typeface="Lato"/>
              </a:rPr>
              <a:t>gramática</a:t>
            </a:r>
            <a:r>
              <a:rPr lang="es" sz="1300">
                <a:solidFill>
                  <a:schemeClr val="lt1"/>
                </a:solidFill>
                <a:latin typeface="Lato"/>
                <a:ea typeface="Lato"/>
                <a:cs typeface="Lato"/>
                <a:sym typeface="Lato"/>
              </a:rPr>
              <a:t> de un lenguaje de </a:t>
            </a:r>
            <a:r>
              <a:rPr lang="es" sz="1300">
                <a:solidFill>
                  <a:schemeClr val="lt1"/>
                </a:solidFill>
                <a:latin typeface="Lato"/>
                <a:ea typeface="Lato"/>
                <a:cs typeface="Lato"/>
                <a:sym typeface="Lato"/>
              </a:rPr>
              <a:t>programación, en otras palabras indica cómo debe escribirse correctamente una linea del codigo.</a:t>
            </a:r>
            <a:endParaRPr sz="13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Cómo</a:t>
            </a:r>
            <a:r>
              <a:rPr lang="es"/>
              <a:t> lee el compilador la regla en Kotlin ?</a:t>
            </a:r>
            <a:endParaRPr/>
          </a:p>
        </p:txBody>
      </p:sp>
      <p:sp>
        <p:nvSpPr>
          <p:cNvPr id="165" name="Google Shape;165;p19"/>
          <p:cNvSpPr txBox="1"/>
          <p:nvPr/>
        </p:nvSpPr>
        <p:spPr>
          <a:xfrm>
            <a:off x="-147100" y="1187125"/>
            <a:ext cx="2697900" cy="585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Supongamos que escribimos la siguiente </a:t>
            </a:r>
            <a:r>
              <a:rPr lang="es" sz="1300">
                <a:solidFill>
                  <a:schemeClr val="lt1"/>
                </a:solidFill>
                <a:latin typeface="Lato"/>
                <a:ea typeface="Lato"/>
                <a:cs typeface="Lato"/>
                <a:sym typeface="Lato"/>
              </a:rPr>
              <a:t>línea</a:t>
            </a:r>
            <a:r>
              <a:rPr lang="es" sz="1300">
                <a:solidFill>
                  <a:schemeClr val="lt1"/>
                </a:solidFill>
                <a:latin typeface="Lato"/>
                <a:ea typeface="Lato"/>
                <a:cs typeface="Lato"/>
                <a:sym typeface="Lato"/>
              </a:rPr>
              <a:t> de </a:t>
            </a:r>
            <a:r>
              <a:rPr lang="es" sz="1300">
                <a:solidFill>
                  <a:schemeClr val="lt1"/>
                </a:solidFill>
                <a:latin typeface="Lato"/>
                <a:ea typeface="Lato"/>
                <a:cs typeface="Lato"/>
                <a:sym typeface="Lato"/>
              </a:rPr>
              <a:t>código</a:t>
            </a:r>
            <a:endParaRPr sz="1300">
              <a:solidFill>
                <a:schemeClr val="lt1"/>
              </a:solidFill>
              <a:latin typeface="Lato"/>
              <a:ea typeface="Lato"/>
              <a:cs typeface="Lato"/>
              <a:sym typeface="Lato"/>
            </a:endParaRPr>
          </a:p>
        </p:txBody>
      </p:sp>
      <p:sp>
        <p:nvSpPr>
          <p:cNvPr id="166" name="Google Shape;166;p19"/>
          <p:cNvSpPr txBox="1"/>
          <p:nvPr/>
        </p:nvSpPr>
        <p:spPr>
          <a:xfrm>
            <a:off x="2637650" y="1274300"/>
            <a:ext cx="1513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lt1"/>
                </a:solidFill>
                <a:latin typeface="Lato"/>
                <a:ea typeface="Lato"/>
                <a:cs typeface="Lato"/>
                <a:sym typeface="Lato"/>
              </a:rPr>
              <a:t>val edad: Int = 20</a:t>
            </a:r>
            <a:endParaRPr sz="1300">
              <a:solidFill>
                <a:schemeClr val="lt1"/>
              </a:solidFill>
              <a:latin typeface="Lato"/>
              <a:ea typeface="Lato"/>
              <a:cs typeface="Lato"/>
              <a:sym typeface="Lato"/>
            </a:endParaRPr>
          </a:p>
        </p:txBody>
      </p:sp>
      <p:sp>
        <p:nvSpPr>
          <p:cNvPr id="167" name="Google Shape;167;p19"/>
          <p:cNvSpPr txBox="1"/>
          <p:nvPr/>
        </p:nvSpPr>
        <p:spPr>
          <a:xfrm>
            <a:off x="5111625" y="-794700"/>
            <a:ext cx="5651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68" name="Google Shape;168;p19"/>
          <p:cNvSpPr/>
          <p:nvPr/>
        </p:nvSpPr>
        <p:spPr>
          <a:xfrm>
            <a:off x="4151450" y="1274300"/>
            <a:ext cx="529800" cy="384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 name="Google Shape;169;p19"/>
          <p:cNvSpPr txBox="1"/>
          <p:nvPr/>
        </p:nvSpPr>
        <p:spPr>
          <a:xfrm>
            <a:off x="5199925" y="1452050"/>
            <a:ext cx="19500" cy="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70" name="Google Shape;170;p19"/>
          <p:cNvSpPr txBox="1"/>
          <p:nvPr/>
        </p:nvSpPr>
        <p:spPr>
          <a:xfrm>
            <a:off x="4681250" y="1087075"/>
            <a:ext cx="4061700" cy="7851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Al compilar el codigo, entramos en la etapa de analisis lexico, en el cual el Lexer lee el codigo caracter por caracter y lo convierte en tokens</a:t>
            </a:r>
            <a:endParaRPr sz="1300">
              <a:solidFill>
                <a:schemeClr val="lt1"/>
              </a:solidFill>
              <a:latin typeface="Lato"/>
              <a:ea typeface="Lato"/>
              <a:cs typeface="Lato"/>
              <a:sym typeface="Lato"/>
            </a:endParaRPr>
          </a:p>
        </p:txBody>
      </p:sp>
      <p:graphicFrame>
        <p:nvGraphicFramePr>
          <p:cNvPr id="171" name="Google Shape;171;p19"/>
          <p:cNvGraphicFramePr/>
          <p:nvPr/>
        </p:nvGraphicFramePr>
        <p:xfrm>
          <a:off x="5019175" y="1838900"/>
          <a:ext cx="3000000" cy="3000000"/>
        </p:xfrm>
        <a:graphic>
          <a:graphicData uri="http://schemas.openxmlformats.org/drawingml/2006/table">
            <a:tbl>
              <a:tblPr>
                <a:noFill/>
                <a:tableStyleId>{D713433A-8D1D-48C4-8CB8-730B62CA9680}</a:tableStyleId>
              </a:tblPr>
              <a:tblGrid>
                <a:gridCol w="629275"/>
                <a:gridCol w="629275"/>
                <a:gridCol w="629275"/>
                <a:gridCol w="629275"/>
                <a:gridCol w="629275"/>
                <a:gridCol w="629275"/>
              </a:tblGrid>
              <a:tr h="381000">
                <a:tc>
                  <a:txBody>
                    <a:bodyPr/>
                    <a:lstStyle/>
                    <a:p>
                      <a:pPr indent="0" lvl="0" marL="0" rtl="0" algn="ctr">
                        <a:spcBef>
                          <a:spcPts val="0"/>
                        </a:spcBef>
                        <a:spcAft>
                          <a:spcPts val="0"/>
                        </a:spcAft>
                        <a:buNone/>
                      </a:pPr>
                      <a:r>
                        <a:rPr lang="es">
                          <a:solidFill>
                            <a:schemeClr val="lt1"/>
                          </a:solidFill>
                        </a:rPr>
                        <a:t>val</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s">
                          <a:solidFill>
                            <a:schemeClr val="lt1"/>
                          </a:solidFill>
                        </a:rPr>
                        <a:t>edad</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s">
                          <a:solidFill>
                            <a:schemeClr val="lt1"/>
                          </a:solidFill>
                        </a:rPr>
                        <a:t>:</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s">
                          <a:solidFill>
                            <a:schemeClr val="lt1"/>
                          </a:solidFill>
                        </a:rPr>
                        <a:t>Int</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s">
                          <a:solidFill>
                            <a:schemeClr val="lt1"/>
                          </a:solidFill>
                        </a:rPr>
                        <a:t>=</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s">
                          <a:solidFill>
                            <a:schemeClr val="lt1"/>
                          </a:solidFill>
                        </a:rPr>
                        <a:t>20</a:t>
                      </a:r>
                      <a:endParaRPr>
                        <a:solidFill>
                          <a:schemeClr val="lt1"/>
                        </a:solidFill>
                      </a:endParaRPr>
                    </a:p>
                  </a:txBody>
                  <a:tcPr marT="91425" marB="91425" marR="91425" marL="91425"/>
                </a:tc>
              </a:tr>
            </a:tbl>
          </a:graphicData>
        </a:graphic>
      </p:graphicFrame>
      <p:sp>
        <p:nvSpPr>
          <p:cNvPr id="172" name="Google Shape;172;p19"/>
          <p:cNvSpPr txBox="1"/>
          <p:nvPr/>
        </p:nvSpPr>
        <p:spPr>
          <a:xfrm>
            <a:off x="-147100" y="2122738"/>
            <a:ext cx="4199100" cy="7851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Para luego pasar al </a:t>
            </a:r>
            <a:r>
              <a:rPr lang="es" sz="1300">
                <a:solidFill>
                  <a:schemeClr val="lt1"/>
                </a:solidFill>
                <a:latin typeface="Lato"/>
                <a:ea typeface="Lato"/>
                <a:cs typeface="Lato"/>
                <a:sym typeface="Lato"/>
              </a:rPr>
              <a:t>Análisis</a:t>
            </a:r>
            <a:r>
              <a:rPr lang="es" sz="1300">
                <a:solidFill>
                  <a:schemeClr val="lt1"/>
                </a:solidFill>
                <a:latin typeface="Lato"/>
                <a:ea typeface="Lato"/>
                <a:cs typeface="Lato"/>
                <a:sym typeface="Lato"/>
              </a:rPr>
              <a:t> </a:t>
            </a:r>
            <a:r>
              <a:rPr lang="es" sz="1300">
                <a:solidFill>
                  <a:schemeClr val="lt1"/>
                </a:solidFill>
                <a:latin typeface="Lato"/>
                <a:ea typeface="Lato"/>
                <a:cs typeface="Lato"/>
                <a:sym typeface="Lato"/>
              </a:rPr>
              <a:t>Sintáctico</a:t>
            </a:r>
            <a:r>
              <a:rPr lang="es" sz="1300">
                <a:solidFill>
                  <a:schemeClr val="lt1"/>
                </a:solidFill>
                <a:latin typeface="Lato"/>
                <a:ea typeface="Lato"/>
                <a:cs typeface="Lato"/>
                <a:sym typeface="Lato"/>
              </a:rPr>
              <a:t> (Parser) en el cual se toma esos tokens uno por uno y se los compara con la reglas </a:t>
            </a:r>
            <a:r>
              <a:rPr lang="es" sz="1300">
                <a:solidFill>
                  <a:schemeClr val="lt1"/>
                </a:solidFill>
                <a:latin typeface="Lato"/>
                <a:ea typeface="Lato"/>
                <a:cs typeface="Lato"/>
                <a:sym typeface="Lato"/>
              </a:rPr>
              <a:t>gramaticales</a:t>
            </a:r>
            <a:r>
              <a:rPr lang="es" sz="1300">
                <a:solidFill>
                  <a:schemeClr val="lt1"/>
                </a:solidFill>
                <a:latin typeface="Lato"/>
                <a:ea typeface="Lato"/>
                <a:cs typeface="Lato"/>
                <a:sym typeface="Lato"/>
              </a:rPr>
              <a:t> de Kotlin.</a:t>
            </a:r>
            <a:endParaRPr sz="1300">
              <a:solidFill>
                <a:schemeClr val="lt1"/>
              </a:solidFill>
              <a:latin typeface="Lato"/>
              <a:ea typeface="Lato"/>
              <a:cs typeface="Lato"/>
              <a:sym typeface="Lato"/>
            </a:endParaRPr>
          </a:p>
        </p:txBody>
      </p:sp>
      <p:sp>
        <p:nvSpPr>
          <p:cNvPr id="173" name="Google Shape;173;p19"/>
          <p:cNvSpPr txBox="1"/>
          <p:nvPr/>
        </p:nvSpPr>
        <p:spPr>
          <a:xfrm>
            <a:off x="311300" y="2986475"/>
            <a:ext cx="3515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u="sng">
                <a:solidFill>
                  <a:schemeClr val="lt1"/>
                </a:solidFill>
                <a:latin typeface="Lato"/>
                <a:ea typeface="Lato"/>
                <a:cs typeface="Lato"/>
                <a:sym typeface="Lato"/>
              </a:rPr>
              <a:t>Regla de </a:t>
            </a:r>
            <a:r>
              <a:rPr lang="es" sz="1300" u="sng">
                <a:solidFill>
                  <a:schemeClr val="lt1"/>
                </a:solidFill>
                <a:latin typeface="Lato"/>
                <a:ea typeface="Lato"/>
                <a:cs typeface="Lato"/>
                <a:sym typeface="Lato"/>
              </a:rPr>
              <a:t>declaración</a:t>
            </a:r>
            <a:r>
              <a:rPr lang="es" sz="1300" u="sng">
                <a:solidFill>
                  <a:schemeClr val="lt1"/>
                </a:solidFill>
                <a:latin typeface="Lato"/>
                <a:ea typeface="Lato"/>
                <a:cs typeface="Lato"/>
                <a:sym typeface="Lato"/>
              </a:rPr>
              <a:t> de variable simplificada</a:t>
            </a:r>
            <a:endParaRPr sz="1300" u="sng">
              <a:solidFill>
                <a:schemeClr val="lt1"/>
              </a:solidFill>
              <a:latin typeface="Lato"/>
              <a:ea typeface="Lato"/>
              <a:cs typeface="Lato"/>
              <a:sym typeface="Lato"/>
            </a:endParaRPr>
          </a:p>
        </p:txBody>
      </p:sp>
      <p:sp>
        <p:nvSpPr>
          <p:cNvPr id="174" name="Google Shape;174;p19"/>
          <p:cNvSpPr txBox="1"/>
          <p:nvPr/>
        </p:nvSpPr>
        <p:spPr>
          <a:xfrm>
            <a:off x="311300" y="3371375"/>
            <a:ext cx="22395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lt1"/>
                </a:solidFill>
                <a:latin typeface="Lato"/>
                <a:ea typeface="Lato"/>
                <a:cs typeface="Lato"/>
                <a:sym typeface="Lato"/>
              </a:rPr>
              <a:t>propertyDeclaration: </a:t>
            </a:r>
            <a:endParaRPr sz="1300">
              <a:solidFill>
                <a:schemeClr val="lt1"/>
              </a:solidFill>
              <a:latin typeface="Lato"/>
              <a:ea typeface="Lato"/>
              <a:cs typeface="Lato"/>
              <a:sym typeface="Lato"/>
            </a:endParaRPr>
          </a:p>
          <a:p>
            <a:pPr indent="457200" lvl="0" marL="0" rtl="0" algn="l">
              <a:spcBef>
                <a:spcPts val="0"/>
              </a:spcBef>
              <a:spcAft>
                <a:spcPts val="0"/>
              </a:spcAft>
              <a:buNone/>
            </a:pPr>
            <a:r>
              <a:rPr lang="es" sz="1300">
                <a:solidFill>
                  <a:schemeClr val="lt1"/>
                </a:solidFill>
                <a:latin typeface="Lato"/>
                <a:ea typeface="Lato"/>
                <a:cs typeface="Lato"/>
                <a:sym typeface="Lato"/>
              </a:rPr>
              <a:t>('val' | 'var')</a:t>
            </a:r>
            <a:endParaRPr sz="1300">
              <a:solidFill>
                <a:schemeClr val="lt1"/>
              </a:solidFill>
              <a:latin typeface="Lato"/>
              <a:ea typeface="Lato"/>
              <a:cs typeface="Lato"/>
              <a:sym typeface="Lato"/>
            </a:endParaRPr>
          </a:p>
          <a:p>
            <a:pPr indent="457200" lvl="0" marL="0" rtl="0" algn="l">
              <a:spcBef>
                <a:spcPts val="0"/>
              </a:spcBef>
              <a:spcAft>
                <a:spcPts val="0"/>
              </a:spcAft>
              <a:buNone/>
            </a:pPr>
            <a:r>
              <a:rPr lang="es" sz="1300">
                <a:solidFill>
                  <a:schemeClr val="lt1"/>
                </a:solidFill>
                <a:latin typeface="Lato"/>
                <a:ea typeface="Lato"/>
                <a:cs typeface="Lato"/>
                <a:sym typeface="Lato"/>
              </a:rPr>
              <a:t> variableDeclaration</a:t>
            </a:r>
            <a:endParaRPr sz="1300">
              <a:solidFill>
                <a:schemeClr val="lt1"/>
              </a:solidFill>
              <a:latin typeface="Lato"/>
              <a:ea typeface="Lato"/>
              <a:cs typeface="Lato"/>
              <a:sym typeface="Lato"/>
            </a:endParaRPr>
          </a:p>
          <a:p>
            <a:pPr indent="457200" lvl="0" marL="0" rtl="0" algn="l">
              <a:spcBef>
                <a:spcPts val="0"/>
              </a:spcBef>
              <a:spcAft>
                <a:spcPts val="0"/>
              </a:spcAft>
              <a:buNone/>
            </a:pPr>
            <a:r>
              <a:rPr lang="es" sz="1300">
                <a:solidFill>
                  <a:schemeClr val="lt1"/>
                </a:solidFill>
                <a:latin typeface="Lato"/>
                <a:ea typeface="Lato"/>
                <a:cs typeface="Lato"/>
                <a:sym typeface="Lato"/>
              </a:rPr>
              <a:t> [('=' expression)] </a:t>
            </a:r>
            <a:endParaRPr sz="1300">
              <a:solidFill>
                <a:schemeClr val="lt1"/>
              </a:solidFill>
              <a:latin typeface="Lato"/>
              <a:ea typeface="Lato"/>
              <a:cs typeface="Lato"/>
              <a:sym typeface="Lato"/>
            </a:endParaRPr>
          </a:p>
        </p:txBody>
      </p:sp>
      <p:sp>
        <p:nvSpPr>
          <p:cNvPr id="175" name="Google Shape;175;p19"/>
          <p:cNvSpPr txBox="1"/>
          <p:nvPr/>
        </p:nvSpPr>
        <p:spPr>
          <a:xfrm>
            <a:off x="2403650" y="3393550"/>
            <a:ext cx="19818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lt1"/>
                </a:solidFill>
                <a:latin typeface="Lato"/>
                <a:ea typeface="Lato"/>
                <a:cs typeface="Lato"/>
                <a:sym typeface="Lato"/>
              </a:rPr>
              <a:t>variableDeclaration: </a:t>
            </a:r>
            <a:endParaRPr sz="1300">
              <a:solidFill>
                <a:schemeClr val="lt1"/>
              </a:solidFill>
              <a:latin typeface="Lato"/>
              <a:ea typeface="Lato"/>
              <a:cs typeface="Lato"/>
              <a:sym typeface="Lato"/>
            </a:endParaRPr>
          </a:p>
          <a:p>
            <a:pPr indent="457200" lvl="0" marL="0" rtl="0" algn="l">
              <a:spcBef>
                <a:spcPts val="0"/>
              </a:spcBef>
              <a:spcAft>
                <a:spcPts val="0"/>
              </a:spcAft>
              <a:buNone/>
            </a:pPr>
            <a:r>
              <a:rPr lang="es" sz="1300">
                <a:solidFill>
                  <a:schemeClr val="lt1"/>
                </a:solidFill>
                <a:latin typeface="Lato"/>
                <a:ea typeface="Lato"/>
                <a:cs typeface="Lato"/>
                <a:sym typeface="Lato"/>
              </a:rPr>
              <a:t>simpleIdentifier </a:t>
            </a:r>
            <a:endParaRPr sz="1300">
              <a:solidFill>
                <a:schemeClr val="lt1"/>
              </a:solidFill>
              <a:latin typeface="Lato"/>
              <a:ea typeface="Lato"/>
              <a:cs typeface="Lato"/>
              <a:sym typeface="Lato"/>
            </a:endParaRPr>
          </a:p>
          <a:p>
            <a:pPr indent="457200" lvl="0" marL="0" rtl="0" algn="l">
              <a:spcBef>
                <a:spcPts val="0"/>
              </a:spcBef>
              <a:spcAft>
                <a:spcPts val="0"/>
              </a:spcAft>
              <a:buNone/>
            </a:pPr>
            <a:r>
              <a:rPr lang="es" sz="1300">
                <a:solidFill>
                  <a:schemeClr val="lt1"/>
                </a:solidFill>
                <a:latin typeface="Lato"/>
                <a:ea typeface="Lato"/>
                <a:cs typeface="Lato"/>
                <a:sym typeface="Lato"/>
              </a:rPr>
              <a:t>[':' type] </a:t>
            </a:r>
            <a:endParaRPr sz="1300">
              <a:solidFill>
                <a:schemeClr val="lt1"/>
              </a:solidFill>
              <a:latin typeface="Lato"/>
              <a:ea typeface="Lato"/>
              <a:cs typeface="Lato"/>
              <a:sym typeface="Lato"/>
            </a:endParaRPr>
          </a:p>
        </p:txBody>
      </p:sp>
      <p:sp>
        <p:nvSpPr>
          <p:cNvPr id="176" name="Google Shape;176;p19"/>
          <p:cNvSpPr/>
          <p:nvPr/>
        </p:nvSpPr>
        <p:spPr>
          <a:xfrm>
            <a:off x="4454200" y="2379300"/>
            <a:ext cx="529800" cy="384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aphicFrame>
        <p:nvGraphicFramePr>
          <p:cNvPr id="177" name="Google Shape;177;p19"/>
          <p:cNvGraphicFramePr/>
          <p:nvPr/>
        </p:nvGraphicFramePr>
        <p:xfrm>
          <a:off x="5111625" y="2399250"/>
          <a:ext cx="3000000" cy="3000000"/>
        </p:xfrm>
        <a:graphic>
          <a:graphicData uri="http://schemas.openxmlformats.org/drawingml/2006/table">
            <a:tbl>
              <a:tblPr>
                <a:noFill/>
                <a:tableStyleId>{D713433A-8D1D-48C4-8CB8-730B62CA9680}</a:tableStyleId>
              </a:tblPr>
              <a:tblGrid>
                <a:gridCol w="728375"/>
                <a:gridCol w="1300750"/>
                <a:gridCol w="1883875"/>
              </a:tblGrid>
              <a:tr h="348175">
                <a:tc>
                  <a:txBody>
                    <a:bodyPr/>
                    <a:lstStyle/>
                    <a:p>
                      <a:pPr indent="0" lvl="0" marL="0" rtl="0" algn="ctr">
                        <a:spcBef>
                          <a:spcPts val="0"/>
                        </a:spcBef>
                        <a:spcAft>
                          <a:spcPts val="0"/>
                        </a:spcAft>
                        <a:buNone/>
                      </a:pPr>
                      <a:r>
                        <a:rPr lang="es" sz="1200">
                          <a:solidFill>
                            <a:schemeClr val="lt1"/>
                          </a:solidFill>
                        </a:rPr>
                        <a:t>val</a:t>
                      </a:r>
                      <a:endParaRPr sz="1200">
                        <a:solidFill>
                          <a:schemeClr val="lt1"/>
                        </a:solidFill>
                      </a:endParaRPr>
                    </a:p>
                  </a:txBody>
                  <a:tcPr marT="91425" marB="91425" marR="91425" marL="91425"/>
                </a:tc>
                <a:tc gridSpan="2">
                  <a:txBody>
                    <a:bodyPr/>
                    <a:lstStyle/>
                    <a:p>
                      <a:pPr indent="0" lvl="0" marL="0" rtl="0" algn="l">
                        <a:spcBef>
                          <a:spcPts val="0"/>
                        </a:spcBef>
                        <a:spcAft>
                          <a:spcPts val="0"/>
                        </a:spcAft>
                        <a:buNone/>
                      </a:pPr>
                      <a:r>
                        <a:rPr lang="es" sz="1200">
                          <a:solidFill>
                            <a:schemeClr val="lt1"/>
                          </a:solidFill>
                        </a:rPr>
                        <a:t>Coincide con ( ‘ val ‘ | ‘ var ‘ )?</a:t>
                      </a:r>
                      <a:endParaRPr sz="1200">
                        <a:solidFill>
                          <a:schemeClr val="lt1"/>
                        </a:solidFill>
                      </a:endParaRPr>
                    </a:p>
                  </a:txBody>
                  <a:tcPr marT="91425" marB="91425" marR="91425" marL="91425"/>
                </a:tc>
                <a:tc hMerge="1"/>
              </a:tr>
              <a:tr h="417950">
                <a:tc>
                  <a:txBody>
                    <a:bodyPr/>
                    <a:lstStyle/>
                    <a:p>
                      <a:pPr indent="0" lvl="0" marL="0" rtl="0" algn="ctr">
                        <a:spcBef>
                          <a:spcPts val="0"/>
                        </a:spcBef>
                        <a:spcAft>
                          <a:spcPts val="0"/>
                        </a:spcAft>
                        <a:buNone/>
                      </a:pPr>
                      <a:r>
                        <a:rPr lang="es" sz="1200">
                          <a:solidFill>
                            <a:schemeClr val="lt1"/>
                          </a:solidFill>
                        </a:rPr>
                        <a:t>edad</a:t>
                      </a:r>
                      <a:endParaRPr sz="1200">
                        <a:solidFill>
                          <a:schemeClr val="lt1"/>
                        </a:solidFill>
                      </a:endParaRPr>
                    </a:p>
                  </a:txBody>
                  <a:tcPr marT="91425" marB="91425" marR="91425" marL="91425"/>
                </a:tc>
                <a:tc gridSpan="2">
                  <a:txBody>
                    <a:bodyPr/>
                    <a:lstStyle/>
                    <a:p>
                      <a:pPr indent="0" lvl="0" marL="0" rtl="0" algn="l">
                        <a:spcBef>
                          <a:spcPts val="0"/>
                        </a:spcBef>
                        <a:spcAft>
                          <a:spcPts val="0"/>
                        </a:spcAft>
                        <a:buNone/>
                      </a:pPr>
                      <a:r>
                        <a:rPr lang="es" sz="1200">
                          <a:solidFill>
                            <a:schemeClr val="lt1"/>
                          </a:solidFill>
                        </a:rPr>
                        <a:t>Es un identificador </a:t>
                      </a:r>
                      <a:r>
                        <a:rPr lang="es" sz="1200">
                          <a:solidFill>
                            <a:schemeClr val="lt1"/>
                          </a:solidFill>
                        </a:rPr>
                        <a:t>válido</a:t>
                      </a:r>
                      <a:r>
                        <a:rPr lang="es" sz="1200">
                          <a:solidFill>
                            <a:schemeClr val="lt1"/>
                          </a:solidFill>
                        </a:rPr>
                        <a:t> ?</a:t>
                      </a:r>
                      <a:endParaRPr sz="1200">
                        <a:solidFill>
                          <a:schemeClr val="lt1"/>
                        </a:solidFill>
                      </a:endParaRPr>
                    </a:p>
                  </a:txBody>
                  <a:tcPr marT="91425" marB="91425" marR="91425" marL="91425"/>
                </a:tc>
                <a:tc hMerge="1"/>
              </a:tr>
              <a:tr h="348175">
                <a:tc>
                  <a:txBody>
                    <a:bodyPr/>
                    <a:lstStyle/>
                    <a:p>
                      <a:pPr indent="0" lvl="0" marL="0" rtl="0" algn="ctr">
                        <a:spcBef>
                          <a:spcPts val="0"/>
                        </a:spcBef>
                        <a:spcAft>
                          <a:spcPts val="0"/>
                        </a:spcAft>
                        <a:buNone/>
                      </a:pPr>
                      <a:r>
                        <a:rPr lang="es" sz="1200">
                          <a:solidFill>
                            <a:schemeClr val="lt1"/>
                          </a:solidFill>
                        </a:rPr>
                        <a:t>:</a:t>
                      </a:r>
                      <a:endParaRPr sz="1200">
                        <a:solidFill>
                          <a:schemeClr val="lt1"/>
                        </a:solidFill>
                      </a:endParaRPr>
                    </a:p>
                  </a:txBody>
                  <a:tcPr marT="91425" marB="91425" marR="91425" marL="91425"/>
                </a:tc>
                <a:tc gridSpan="2">
                  <a:txBody>
                    <a:bodyPr/>
                    <a:lstStyle/>
                    <a:p>
                      <a:pPr indent="0" lvl="0" marL="0" rtl="0" algn="l">
                        <a:spcBef>
                          <a:spcPts val="0"/>
                        </a:spcBef>
                        <a:spcAft>
                          <a:spcPts val="0"/>
                        </a:spcAft>
                        <a:buNone/>
                      </a:pPr>
                      <a:r>
                        <a:rPr lang="es" sz="1200">
                          <a:solidFill>
                            <a:schemeClr val="lt1"/>
                          </a:solidFill>
                        </a:rPr>
                        <a:t>Coincide con ‘ : ‘ ?</a:t>
                      </a:r>
                      <a:endParaRPr sz="1200">
                        <a:solidFill>
                          <a:schemeClr val="lt1"/>
                        </a:solidFill>
                      </a:endParaRPr>
                    </a:p>
                  </a:txBody>
                  <a:tcPr marT="91425" marB="91425" marR="91425" marL="91425"/>
                </a:tc>
                <a:tc hMerge="1"/>
              </a:tr>
              <a:tr h="348175">
                <a:tc>
                  <a:txBody>
                    <a:bodyPr/>
                    <a:lstStyle/>
                    <a:p>
                      <a:pPr indent="0" lvl="0" marL="0" rtl="0" algn="ctr">
                        <a:spcBef>
                          <a:spcPts val="0"/>
                        </a:spcBef>
                        <a:spcAft>
                          <a:spcPts val="0"/>
                        </a:spcAft>
                        <a:buNone/>
                      </a:pPr>
                      <a:r>
                        <a:rPr lang="es" sz="1200">
                          <a:solidFill>
                            <a:schemeClr val="lt1"/>
                          </a:solidFill>
                        </a:rPr>
                        <a:t>Int</a:t>
                      </a:r>
                      <a:endParaRPr sz="1200">
                        <a:solidFill>
                          <a:schemeClr val="lt1"/>
                        </a:solidFill>
                      </a:endParaRPr>
                    </a:p>
                  </a:txBody>
                  <a:tcPr marT="91425" marB="91425" marR="91425" marL="91425"/>
                </a:tc>
                <a:tc gridSpan="2">
                  <a:txBody>
                    <a:bodyPr/>
                    <a:lstStyle/>
                    <a:p>
                      <a:pPr indent="0" lvl="0" marL="0" rtl="0" algn="l">
                        <a:spcBef>
                          <a:spcPts val="0"/>
                        </a:spcBef>
                        <a:spcAft>
                          <a:spcPts val="0"/>
                        </a:spcAft>
                        <a:buNone/>
                      </a:pPr>
                      <a:r>
                        <a:rPr lang="es" sz="1200">
                          <a:solidFill>
                            <a:schemeClr val="lt1"/>
                          </a:solidFill>
                        </a:rPr>
                        <a:t>Coincide con type ?</a:t>
                      </a:r>
                      <a:endParaRPr sz="1200">
                        <a:solidFill>
                          <a:schemeClr val="lt1"/>
                        </a:solidFill>
                      </a:endParaRPr>
                    </a:p>
                  </a:txBody>
                  <a:tcPr marT="91425" marB="91425" marR="91425" marL="91425"/>
                </a:tc>
                <a:tc hMerge="1"/>
              </a:tr>
              <a:tr h="348175">
                <a:tc>
                  <a:txBody>
                    <a:bodyPr/>
                    <a:lstStyle/>
                    <a:p>
                      <a:pPr indent="0" lvl="0" marL="0" rtl="0" algn="ctr">
                        <a:spcBef>
                          <a:spcPts val="0"/>
                        </a:spcBef>
                        <a:spcAft>
                          <a:spcPts val="0"/>
                        </a:spcAft>
                        <a:buNone/>
                      </a:pPr>
                      <a:r>
                        <a:rPr lang="es" sz="1200">
                          <a:solidFill>
                            <a:schemeClr val="lt1"/>
                          </a:solidFill>
                        </a:rPr>
                        <a:t>=</a:t>
                      </a:r>
                      <a:endParaRPr sz="1200">
                        <a:solidFill>
                          <a:schemeClr val="lt1"/>
                        </a:solidFill>
                      </a:endParaRPr>
                    </a:p>
                  </a:txBody>
                  <a:tcPr marT="91425" marB="91425" marR="91425" marL="91425"/>
                </a:tc>
                <a:tc gridSpan="2">
                  <a:txBody>
                    <a:bodyPr/>
                    <a:lstStyle/>
                    <a:p>
                      <a:pPr indent="0" lvl="0" marL="0" rtl="0" algn="l">
                        <a:spcBef>
                          <a:spcPts val="0"/>
                        </a:spcBef>
                        <a:spcAft>
                          <a:spcPts val="0"/>
                        </a:spcAft>
                        <a:buNone/>
                      </a:pPr>
                      <a:r>
                        <a:rPr lang="es" sz="1200">
                          <a:solidFill>
                            <a:schemeClr val="lt1"/>
                          </a:solidFill>
                        </a:rPr>
                        <a:t>Coincide con ‘ = ‘ ?</a:t>
                      </a:r>
                      <a:endParaRPr sz="1200">
                        <a:solidFill>
                          <a:schemeClr val="lt1"/>
                        </a:solidFill>
                      </a:endParaRPr>
                    </a:p>
                  </a:txBody>
                  <a:tcPr marT="91425" marB="91425" marR="91425" marL="91425"/>
                </a:tc>
                <a:tc hMerge="1"/>
              </a:tr>
              <a:tr h="348175">
                <a:tc>
                  <a:txBody>
                    <a:bodyPr/>
                    <a:lstStyle/>
                    <a:p>
                      <a:pPr indent="0" lvl="0" marL="0" rtl="0" algn="ctr">
                        <a:spcBef>
                          <a:spcPts val="0"/>
                        </a:spcBef>
                        <a:spcAft>
                          <a:spcPts val="0"/>
                        </a:spcAft>
                        <a:buNone/>
                      </a:pPr>
                      <a:r>
                        <a:rPr lang="es" sz="1200">
                          <a:solidFill>
                            <a:schemeClr val="lt1"/>
                          </a:solidFill>
                        </a:rPr>
                        <a:t>20</a:t>
                      </a:r>
                      <a:endParaRPr sz="1200">
                        <a:solidFill>
                          <a:schemeClr val="lt1"/>
                        </a:solidFill>
                      </a:endParaRPr>
                    </a:p>
                  </a:txBody>
                  <a:tcPr marT="91425" marB="91425" marR="91425" marL="91425"/>
                </a:tc>
                <a:tc gridSpan="2">
                  <a:txBody>
                    <a:bodyPr/>
                    <a:lstStyle/>
                    <a:p>
                      <a:pPr indent="0" lvl="0" marL="0" rtl="0" algn="l">
                        <a:spcBef>
                          <a:spcPts val="0"/>
                        </a:spcBef>
                        <a:spcAft>
                          <a:spcPts val="0"/>
                        </a:spcAft>
                        <a:buNone/>
                      </a:pPr>
                      <a:r>
                        <a:rPr lang="es" sz="1200">
                          <a:solidFill>
                            <a:schemeClr val="lt1"/>
                          </a:solidFill>
                        </a:rPr>
                        <a:t>Es una </a:t>
                      </a:r>
                      <a:r>
                        <a:rPr lang="es" sz="1200">
                          <a:solidFill>
                            <a:schemeClr val="lt1"/>
                          </a:solidFill>
                        </a:rPr>
                        <a:t>expresión</a:t>
                      </a:r>
                      <a:r>
                        <a:rPr lang="es" sz="1200">
                          <a:solidFill>
                            <a:schemeClr val="lt1"/>
                          </a:solidFill>
                        </a:rPr>
                        <a:t> </a:t>
                      </a:r>
                      <a:r>
                        <a:rPr lang="es" sz="1200">
                          <a:solidFill>
                            <a:schemeClr val="lt1"/>
                          </a:solidFill>
                        </a:rPr>
                        <a:t>válida</a:t>
                      </a:r>
                      <a:r>
                        <a:rPr lang="es" sz="1200">
                          <a:solidFill>
                            <a:schemeClr val="lt1"/>
                          </a:solidFill>
                        </a:rPr>
                        <a:t> ?</a:t>
                      </a:r>
                      <a:endParaRPr sz="1200">
                        <a:solidFill>
                          <a:schemeClr val="lt1"/>
                        </a:solidFill>
                      </a:endParaRPr>
                    </a:p>
                  </a:txBody>
                  <a:tcPr marT="91425" marB="91425" marR="91425" marL="91425"/>
                </a:tc>
                <a:tc hMerge="1"/>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0"/>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800"/>
              <a:t>Comparación</a:t>
            </a:r>
            <a:r>
              <a:rPr lang="es" sz="2800"/>
              <a:t> entre el </a:t>
            </a:r>
            <a:r>
              <a:rPr lang="es" sz="2800"/>
              <a:t>BNF de Kotlin y VB.net.</a:t>
            </a:r>
            <a:endParaRPr sz="2800"/>
          </a:p>
        </p:txBody>
      </p:sp>
      <p:sp>
        <p:nvSpPr>
          <p:cNvPr id="183" name="Google Shape;183;p20"/>
          <p:cNvSpPr txBox="1"/>
          <p:nvPr/>
        </p:nvSpPr>
        <p:spPr>
          <a:xfrm>
            <a:off x="564725" y="1671250"/>
            <a:ext cx="43956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lt1"/>
                </a:solidFill>
                <a:latin typeface="Lato"/>
                <a:ea typeface="Lato"/>
                <a:cs typeface="Lato"/>
                <a:sym typeface="Lato"/>
              </a:rPr>
              <a:t>- 	</a:t>
            </a:r>
            <a:r>
              <a:rPr lang="es" sz="1300">
                <a:solidFill>
                  <a:schemeClr val="lt1"/>
                </a:solidFill>
                <a:latin typeface="Lato"/>
                <a:ea typeface="Lato"/>
                <a:cs typeface="Lato"/>
                <a:sym typeface="Lato"/>
              </a:rPr>
              <a:t>En lo poco que se diferencia la BNF de Kotlin sobre el BNF de VB es en la forma con la que Kotlin expresa sus reglas de una manera </a:t>
            </a:r>
            <a:r>
              <a:rPr lang="es" sz="1300">
                <a:solidFill>
                  <a:schemeClr val="lt1"/>
                </a:solidFill>
                <a:latin typeface="Lato"/>
                <a:ea typeface="Lato"/>
                <a:cs typeface="Lato"/>
                <a:sym typeface="Lato"/>
              </a:rPr>
              <a:t>más</a:t>
            </a:r>
            <a:r>
              <a:rPr lang="es" sz="1300">
                <a:solidFill>
                  <a:schemeClr val="lt1"/>
                </a:solidFill>
                <a:latin typeface="Lato"/>
                <a:ea typeface="Lato"/>
                <a:cs typeface="Lato"/>
                <a:sym typeface="Lato"/>
              </a:rPr>
              <a:t> compacta, concentrando </a:t>
            </a:r>
            <a:r>
              <a:rPr lang="es" sz="1300">
                <a:solidFill>
                  <a:schemeClr val="lt1"/>
                </a:solidFill>
                <a:latin typeface="Lato"/>
                <a:ea typeface="Lato"/>
                <a:cs typeface="Lato"/>
                <a:sym typeface="Lato"/>
              </a:rPr>
              <a:t>más</a:t>
            </a:r>
            <a:r>
              <a:rPr lang="es" sz="1300">
                <a:solidFill>
                  <a:schemeClr val="lt1"/>
                </a:solidFill>
                <a:latin typeface="Lato"/>
                <a:ea typeface="Lato"/>
                <a:cs typeface="Lato"/>
                <a:sym typeface="Lato"/>
              </a:rPr>
              <a:t> </a:t>
            </a:r>
            <a:r>
              <a:rPr lang="es" sz="1300">
                <a:solidFill>
                  <a:schemeClr val="lt1"/>
                </a:solidFill>
                <a:latin typeface="Lato"/>
                <a:ea typeface="Lato"/>
                <a:cs typeface="Lato"/>
                <a:sym typeface="Lato"/>
              </a:rPr>
              <a:t>información</a:t>
            </a:r>
            <a:r>
              <a:rPr lang="es" sz="1300">
                <a:solidFill>
                  <a:schemeClr val="lt1"/>
                </a:solidFill>
                <a:latin typeface="Lato"/>
                <a:ea typeface="Lato"/>
                <a:cs typeface="Lato"/>
                <a:sym typeface="Lato"/>
              </a:rPr>
              <a:t> en la regla principal debido a que utiliza </a:t>
            </a:r>
            <a:r>
              <a:rPr lang="es" sz="1300">
                <a:solidFill>
                  <a:schemeClr val="lt1"/>
                </a:solidFill>
                <a:latin typeface="Lato"/>
                <a:ea typeface="Lato"/>
                <a:cs typeface="Lato"/>
                <a:sym typeface="Lato"/>
              </a:rPr>
              <a:t>notación</a:t>
            </a:r>
            <a:r>
              <a:rPr lang="es" sz="1300">
                <a:solidFill>
                  <a:schemeClr val="lt1"/>
                </a:solidFill>
                <a:latin typeface="Lato"/>
                <a:ea typeface="Lato"/>
                <a:cs typeface="Lato"/>
                <a:sym typeface="Lato"/>
              </a:rPr>
              <a:t> EBNF, mientras que VB se acerca </a:t>
            </a:r>
            <a:r>
              <a:rPr lang="es" sz="1300">
                <a:solidFill>
                  <a:schemeClr val="lt1"/>
                </a:solidFill>
                <a:latin typeface="Lato"/>
                <a:ea typeface="Lato"/>
                <a:cs typeface="Lato"/>
                <a:sym typeface="Lato"/>
              </a:rPr>
              <a:t>más</a:t>
            </a:r>
            <a:r>
              <a:rPr lang="es" sz="1300">
                <a:solidFill>
                  <a:schemeClr val="lt1"/>
                </a:solidFill>
                <a:latin typeface="Lato"/>
                <a:ea typeface="Lato"/>
                <a:cs typeface="Lato"/>
                <a:sym typeface="Lato"/>
              </a:rPr>
              <a:t> a una </a:t>
            </a:r>
            <a:r>
              <a:rPr lang="es" sz="1300">
                <a:solidFill>
                  <a:schemeClr val="lt1"/>
                </a:solidFill>
                <a:latin typeface="Lato"/>
                <a:ea typeface="Lato"/>
                <a:cs typeface="Lato"/>
                <a:sym typeface="Lato"/>
              </a:rPr>
              <a:t>notación</a:t>
            </a:r>
            <a:r>
              <a:rPr lang="es" sz="1300">
                <a:solidFill>
                  <a:schemeClr val="lt1"/>
                </a:solidFill>
                <a:latin typeface="Lato"/>
                <a:ea typeface="Lato"/>
                <a:cs typeface="Lato"/>
                <a:sym typeface="Lato"/>
              </a:rPr>
              <a:t> BNF tradicional lo cual lleva a que sus reglas sean </a:t>
            </a:r>
            <a:r>
              <a:rPr lang="es" sz="1300">
                <a:solidFill>
                  <a:schemeClr val="lt1"/>
                </a:solidFill>
                <a:latin typeface="Lato"/>
                <a:ea typeface="Lato"/>
                <a:cs typeface="Lato"/>
                <a:sym typeface="Lato"/>
              </a:rPr>
              <a:t>más</a:t>
            </a:r>
            <a:r>
              <a:rPr lang="es" sz="1300">
                <a:solidFill>
                  <a:schemeClr val="lt1"/>
                </a:solidFill>
                <a:latin typeface="Lato"/>
                <a:ea typeface="Lato"/>
                <a:cs typeface="Lato"/>
                <a:sym typeface="Lato"/>
              </a:rPr>
              <a:t> extensas debido al uso de reglas auxiliares y producciones adicionales.</a:t>
            </a:r>
            <a:br>
              <a:rPr lang="es" sz="1300">
                <a:solidFill>
                  <a:schemeClr val="lt1"/>
                </a:solidFill>
                <a:latin typeface="Lato"/>
                <a:ea typeface="Lato"/>
                <a:cs typeface="Lato"/>
                <a:sym typeface="Lato"/>
              </a:rPr>
            </a:b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84" name="Google Shape;184;p20"/>
          <p:cNvSpPr txBox="1"/>
          <p:nvPr/>
        </p:nvSpPr>
        <p:spPr>
          <a:xfrm>
            <a:off x="4960325" y="1465700"/>
            <a:ext cx="4154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lt1"/>
                </a:solidFill>
                <a:latin typeface="Lato"/>
                <a:ea typeface="Lato"/>
                <a:cs typeface="Lato"/>
                <a:sym typeface="Lato"/>
              </a:rPr>
              <a:t>Un ejemplo para comparar </a:t>
            </a:r>
            <a:r>
              <a:rPr lang="es" sz="1300">
                <a:solidFill>
                  <a:schemeClr val="lt1"/>
                </a:solidFill>
                <a:latin typeface="Lato"/>
                <a:ea typeface="Lato"/>
                <a:cs typeface="Lato"/>
                <a:sym typeface="Lato"/>
              </a:rPr>
              <a:t>cómo</a:t>
            </a:r>
            <a:r>
              <a:rPr lang="es" sz="1300">
                <a:solidFill>
                  <a:schemeClr val="lt1"/>
                </a:solidFill>
                <a:latin typeface="Lato"/>
                <a:ea typeface="Lato"/>
                <a:cs typeface="Lato"/>
                <a:sym typeface="Lato"/>
              </a:rPr>
              <a:t> son las reglas gramaticales de cada uno es con una </a:t>
            </a:r>
            <a:r>
              <a:rPr lang="es" sz="1300">
                <a:solidFill>
                  <a:schemeClr val="lt1"/>
                </a:solidFill>
                <a:latin typeface="Lato"/>
                <a:ea typeface="Lato"/>
                <a:cs typeface="Lato"/>
                <a:sym typeface="Lato"/>
              </a:rPr>
              <a:t>función</a:t>
            </a:r>
            <a:r>
              <a:rPr lang="es" sz="1300">
                <a:solidFill>
                  <a:schemeClr val="lt1"/>
                </a:solidFill>
                <a:latin typeface="Lato"/>
                <a:ea typeface="Lato"/>
                <a:cs typeface="Lato"/>
                <a:sym typeface="Lato"/>
              </a:rPr>
              <a:t> que imprima un “hola”</a:t>
            </a:r>
            <a:endParaRPr sz="1300">
              <a:solidFill>
                <a:schemeClr val="lt1"/>
              </a:solidFill>
              <a:latin typeface="Lato"/>
              <a:ea typeface="Lato"/>
              <a:cs typeface="Lato"/>
              <a:sym typeface="Lato"/>
            </a:endParaRPr>
          </a:p>
        </p:txBody>
      </p:sp>
      <p:pic>
        <p:nvPicPr>
          <p:cNvPr id="185" name="Google Shape;185;p20" title="imagen_2026-08-02_154922819.png"/>
          <p:cNvPicPr preferRelativeResize="0"/>
          <p:nvPr/>
        </p:nvPicPr>
        <p:blipFill>
          <a:blip r:embed="rId3">
            <a:alphaModFix/>
          </a:blip>
          <a:stretch>
            <a:fillRect/>
          </a:stretch>
        </p:blipFill>
        <p:spPr>
          <a:xfrm>
            <a:off x="4901350" y="2408650"/>
            <a:ext cx="1974925" cy="2234975"/>
          </a:xfrm>
          <a:prstGeom prst="rect">
            <a:avLst/>
          </a:prstGeom>
          <a:noFill/>
          <a:ln>
            <a:noFill/>
          </a:ln>
        </p:spPr>
      </p:pic>
      <p:pic>
        <p:nvPicPr>
          <p:cNvPr id="186" name="Google Shape;186;p20" title="imagen_2026-08-02_160613008.png"/>
          <p:cNvPicPr preferRelativeResize="0"/>
          <p:nvPr/>
        </p:nvPicPr>
        <p:blipFill rotWithShape="1">
          <a:blip r:embed="rId4">
            <a:alphaModFix/>
          </a:blip>
          <a:srcRect b="0" l="0" r="-3810" t="0"/>
          <a:stretch/>
        </p:blipFill>
        <p:spPr>
          <a:xfrm>
            <a:off x="6919100" y="2408650"/>
            <a:ext cx="2140625" cy="2234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nvSpPr>
        <p:spPr>
          <a:xfrm>
            <a:off x="1164425" y="442900"/>
            <a:ext cx="7451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600">
                <a:solidFill>
                  <a:schemeClr val="lt1"/>
                </a:solidFill>
                <a:latin typeface="Montserrat"/>
                <a:ea typeface="Montserrat"/>
                <a:cs typeface="Montserrat"/>
                <a:sym typeface="Montserrat"/>
              </a:rPr>
              <a:t>Ejemplos de reglas gramaticales en Kotlin</a:t>
            </a:r>
            <a:endParaRPr sz="2600">
              <a:solidFill>
                <a:schemeClr val="lt1"/>
              </a:solidFill>
              <a:latin typeface="Montserrat"/>
              <a:ea typeface="Montserrat"/>
              <a:cs typeface="Montserrat"/>
              <a:sym typeface="Montserrat"/>
            </a:endParaRPr>
          </a:p>
        </p:txBody>
      </p:sp>
      <p:sp>
        <p:nvSpPr>
          <p:cNvPr id="192" name="Google Shape;192;p21"/>
          <p:cNvSpPr txBox="1"/>
          <p:nvPr/>
        </p:nvSpPr>
        <p:spPr>
          <a:xfrm>
            <a:off x="142850" y="1558975"/>
            <a:ext cx="3522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lt1"/>
                </a:solidFill>
                <a:latin typeface="Lato"/>
                <a:ea typeface="Lato"/>
                <a:cs typeface="Lato"/>
                <a:sym typeface="Lato"/>
              </a:rPr>
              <a:t>propertyDeclaration:</a:t>
            </a:r>
            <a:endParaRPr sz="10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[modifiers]</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('val' | 'var')</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typeParameters]</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receiverType {NL} '.']</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(multiVariableDeclaration | variableDeclaration))</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typeConstraints]</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 {NL} expression) | propertyDelegate)]</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(([getter] [{NL} [semi] setter]) | ([setter] [{NL} [semi] getter]))</a:t>
            </a:r>
            <a:endParaRPr sz="1000">
              <a:solidFill>
                <a:schemeClr val="lt1"/>
              </a:solidFill>
              <a:latin typeface="Lato"/>
              <a:ea typeface="Lato"/>
              <a:cs typeface="Lato"/>
              <a:sym typeface="Lato"/>
            </a:endParaRPr>
          </a:p>
        </p:txBody>
      </p:sp>
      <p:sp>
        <p:nvSpPr>
          <p:cNvPr id="193" name="Google Shape;193;p21"/>
          <p:cNvSpPr txBox="1"/>
          <p:nvPr/>
        </p:nvSpPr>
        <p:spPr>
          <a:xfrm>
            <a:off x="142850" y="1368138"/>
            <a:ext cx="1957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u="sng">
                <a:solidFill>
                  <a:schemeClr val="lt1"/>
                </a:solidFill>
                <a:latin typeface="Lato"/>
                <a:ea typeface="Lato"/>
                <a:cs typeface="Lato"/>
                <a:sym typeface="Lato"/>
              </a:rPr>
              <a:t>Declaración</a:t>
            </a:r>
            <a:r>
              <a:rPr lang="es" sz="1300" u="sng">
                <a:solidFill>
                  <a:schemeClr val="lt1"/>
                </a:solidFill>
                <a:latin typeface="Lato"/>
                <a:ea typeface="Lato"/>
                <a:cs typeface="Lato"/>
                <a:sym typeface="Lato"/>
              </a:rPr>
              <a:t> de variable</a:t>
            </a:r>
            <a:endParaRPr sz="1300" u="sng">
              <a:solidFill>
                <a:schemeClr val="lt1"/>
              </a:solidFill>
              <a:latin typeface="Lato"/>
              <a:ea typeface="Lato"/>
              <a:cs typeface="Lato"/>
              <a:sym typeface="Lato"/>
            </a:endParaRPr>
          </a:p>
        </p:txBody>
      </p:sp>
      <p:sp>
        <p:nvSpPr>
          <p:cNvPr id="194" name="Google Shape;194;p21"/>
          <p:cNvSpPr txBox="1"/>
          <p:nvPr/>
        </p:nvSpPr>
        <p:spPr>
          <a:xfrm>
            <a:off x="3482250" y="1357325"/>
            <a:ext cx="1957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u="sng">
                <a:solidFill>
                  <a:schemeClr val="lt1"/>
                </a:solidFill>
                <a:latin typeface="Lato"/>
                <a:ea typeface="Lato"/>
                <a:cs typeface="Lato"/>
                <a:sym typeface="Lato"/>
              </a:rPr>
              <a:t>Declaracion de funcion</a:t>
            </a:r>
            <a:endParaRPr sz="1300" u="sng">
              <a:solidFill>
                <a:schemeClr val="lt1"/>
              </a:solidFill>
              <a:latin typeface="Lato"/>
              <a:ea typeface="Lato"/>
              <a:cs typeface="Lato"/>
              <a:sym typeface="Lato"/>
            </a:endParaRPr>
          </a:p>
        </p:txBody>
      </p:sp>
      <p:sp>
        <p:nvSpPr>
          <p:cNvPr id="195" name="Google Shape;195;p21"/>
          <p:cNvSpPr txBox="1"/>
          <p:nvPr/>
        </p:nvSpPr>
        <p:spPr>
          <a:xfrm>
            <a:off x="3482250" y="1548150"/>
            <a:ext cx="19143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lt1"/>
                </a:solidFill>
                <a:latin typeface="Lato"/>
                <a:ea typeface="Lato"/>
                <a:cs typeface="Lato"/>
                <a:sym typeface="Lato"/>
              </a:rPr>
              <a:t>functionDeclaration:</a:t>
            </a:r>
            <a:endParaRPr sz="10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[modifiers]</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'fun'</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typeParameters]</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receiverType {NL} '.']</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simpleIdentifier</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functionValueParameters</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 {NL} type]</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typeConstraints]</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 functionBody]</a:t>
            </a:r>
            <a:endParaRPr sz="1000">
              <a:solidFill>
                <a:schemeClr val="lt1"/>
              </a:solidFill>
              <a:latin typeface="Lato"/>
              <a:ea typeface="Lato"/>
              <a:cs typeface="Lato"/>
              <a:sym typeface="Lato"/>
            </a:endParaRPr>
          </a:p>
        </p:txBody>
      </p:sp>
      <p:sp>
        <p:nvSpPr>
          <p:cNvPr id="196" name="Google Shape;196;p21"/>
          <p:cNvSpPr txBox="1"/>
          <p:nvPr/>
        </p:nvSpPr>
        <p:spPr>
          <a:xfrm>
            <a:off x="5382600" y="1357313"/>
            <a:ext cx="1957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u="sng">
                <a:solidFill>
                  <a:schemeClr val="lt1"/>
                </a:solidFill>
                <a:latin typeface="Lato"/>
                <a:ea typeface="Lato"/>
                <a:cs typeface="Lato"/>
                <a:sym typeface="Lato"/>
              </a:rPr>
              <a:t>Declaración</a:t>
            </a:r>
            <a:r>
              <a:rPr lang="es" sz="1300" u="sng">
                <a:solidFill>
                  <a:schemeClr val="lt1"/>
                </a:solidFill>
                <a:latin typeface="Lato"/>
                <a:ea typeface="Lato"/>
                <a:cs typeface="Lato"/>
                <a:sym typeface="Lato"/>
              </a:rPr>
              <a:t> de for</a:t>
            </a:r>
            <a:endParaRPr sz="1300" u="sng">
              <a:solidFill>
                <a:schemeClr val="lt1"/>
              </a:solidFill>
              <a:latin typeface="Lato"/>
              <a:ea typeface="Lato"/>
              <a:cs typeface="Lato"/>
              <a:sym typeface="Lato"/>
            </a:endParaRPr>
          </a:p>
        </p:txBody>
      </p:sp>
      <p:sp>
        <p:nvSpPr>
          <p:cNvPr id="197" name="Google Shape;197;p21"/>
          <p:cNvSpPr txBox="1"/>
          <p:nvPr/>
        </p:nvSpPr>
        <p:spPr>
          <a:xfrm>
            <a:off x="5382600" y="1569638"/>
            <a:ext cx="24717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lt1"/>
                </a:solidFill>
                <a:latin typeface="Lato"/>
                <a:ea typeface="Lato"/>
                <a:cs typeface="Lato"/>
                <a:sym typeface="Lato"/>
              </a:rPr>
              <a:t>forStatement:</a:t>
            </a:r>
            <a:endParaRPr sz="10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'for'</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{annotation}</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(variableDeclaration | multiVariableDeclaration)</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'in'</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expression</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{NL}</a:t>
            </a:r>
            <a:endParaRPr sz="1000">
              <a:solidFill>
                <a:schemeClr val="lt1"/>
              </a:solidFill>
              <a:latin typeface="Lato"/>
              <a:ea typeface="Lato"/>
              <a:cs typeface="Lato"/>
              <a:sym typeface="Lato"/>
            </a:endParaRPr>
          </a:p>
          <a:p>
            <a:pPr indent="0" lvl="0" marL="0" rtl="0" algn="l">
              <a:spcBef>
                <a:spcPts val="0"/>
              </a:spcBef>
              <a:spcAft>
                <a:spcPts val="0"/>
              </a:spcAft>
              <a:buNone/>
            </a:pPr>
            <a:r>
              <a:rPr lang="es" sz="1000">
                <a:solidFill>
                  <a:schemeClr val="lt1"/>
                </a:solidFill>
                <a:latin typeface="Lato"/>
                <a:ea typeface="Lato"/>
                <a:cs typeface="Lato"/>
                <a:sym typeface="Lato"/>
              </a:rPr>
              <a:t>[controlStructureBody]</a:t>
            </a:r>
            <a:endParaRPr sz="1000">
              <a:solidFill>
                <a:schemeClr val="lt1"/>
              </a:solidFill>
              <a:latin typeface="Lato"/>
              <a:ea typeface="Lato"/>
              <a:cs typeface="Lato"/>
              <a:sym typeface="Lato"/>
            </a:endParaRPr>
          </a:p>
        </p:txBody>
      </p:sp>
      <p:sp>
        <p:nvSpPr>
          <p:cNvPr id="198" name="Google Shape;198;p21"/>
          <p:cNvSpPr txBox="1"/>
          <p:nvPr/>
        </p:nvSpPr>
        <p:spPr>
          <a:xfrm>
            <a:off x="6957875" y="1357313"/>
            <a:ext cx="1957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u="sng">
                <a:solidFill>
                  <a:schemeClr val="lt1"/>
                </a:solidFill>
                <a:latin typeface="Lato"/>
                <a:ea typeface="Lato"/>
                <a:cs typeface="Lato"/>
                <a:sym typeface="Lato"/>
              </a:rPr>
              <a:t>Declaración de if</a:t>
            </a:r>
            <a:endParaRPr sz="1300" u="sng">
              <a:solidFill>
                <a:schemeClr val="lt1"/>
              </a:solidFill>
              <a:latin typeface="Lato"/>
              <a:ea typeface="Lato"/>
              <a:cs typeface="Lato"/>
              <a:sym typeface="Lato"/>
            </a:endParaRPr>
          </a:p>
        </p:txBody>
      </p:sp>
      <p:sp>
        <p:nvSpPr>
          <p:cNvPr id="199" name="Google Shape;199;p21"/>
          <p:cNvSpPr txBox="1"/>
          <p:nvPr/>
        </p:nvSpPr>
        <p:spPr>
          <a:xfrm>
            <a:off x="6957875" y="1558825"/>
            <a:ext cx="21504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lt1"/>
                </a:solidFill>
                <a:latin typeface="Lato"/>
                <a:ea typeface="Lato"/>
                <a:cs typeface="Lato"/>
                <a:sym typeface="Lato"/>
              </a:rPr>
              <a:t>ifExpression:</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'if'</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{NL}</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{NL}</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expression</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{NL}</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{NL}</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rPr lang="es" sz="1100">
                <a:solidFill>
                  <a:schemeClr val="lt1"/>
                </a:solidFill>
                <a:latin typeface="Lato"/>
                <a:ea typeface="Lato"/>
                <a:cs typeface="Lato"/>
                <a:sym typeface="Lato"/>
              </a:rPr>
              <a:t>(controlStructureBody | ([controlStructureBody] {NL} [';'] {NL} 'else' {NL} (controlStructureBody | ';')) | ';')</a:t>
            </a:r>
            <a:endParaRPr sz="11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p:nvPr/>
        </p:nvSpPr>
        <p:spPr>
          <a:xfrm>
            <a:off x="562371" y="857250"/>
            <a:ext cx="4663500" cy="10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Play"/>
              <a:buNone/>
            </a:pPr>
            <a:r>
              <a:rPr b="1" i="0" lang="es" sz="3200" u="none" cap="none" strike="noStrike">
                <a:solidFill>
                  <a:srgbClr val="FFFFFF"/>
                </a:solidFill>
                <a:latin typeface="Play"/>
                <a:ea typeface="Play"/>
                <a:cs typeface="Play"/>
                <a:sym typeface="Play"/>
              </a:rPr>
              <a:t>Bubble Sort</a:t>
            </a:r>
            <a:endParaRPr b="0" i="0" sz="3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200"/>
              <a:buFont typeface="Play"/>
              <a:buNone/>
            </a:pPr>
            <a:r>
              <a:rPr b="1" i="0" lang="es" sz="3200" u="none" cap="none" strike="noStrike">
                <a:solidFill>
                  <a:srgbClr val="FFFFFF"/>
                </a:solidFill>
                <a:latin typeface="Play"/>
                <a:ea typeface="Play"/>
                <a:cs typeface="Play"/>
                <a:sym typeface="Play"/>
              </a:rPr>
              <a:t>y Quick Sort</a:t>
            </a:r>
            <a:endParaRPr b="0" i="0" sz="3200" u="none" cap="none" strike="noStrike">
              <a:solidFill>
                <a:schemeClr val="dk1"/>
              </a:solidFill>
              <a:latin typeface="Arial"/>
              <a:ea typeface="Arial"/>
              <a:cs typeface="Arial"/>
              <a:sym typeface="Arial"/>
            </a:endParaRPr>
          </a:p>
        </p:txBody>
      </p:sp>
      <p:sp>
        <p:nvSpPr>
          <p:cNvPr id="205" name="Google Shape;205;p22"/>
          <p:cNvSpPr/>
          <p:nvPr/>
        </p:nvSpPr>
        <p:spPr>
          <a:xfrm>
            <a:off x="589804" y="2146554"/>
            <a:ext cx="45951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0FF"/>
              </a:buClr>
              <a:buSzPts val="1400"/>
              <a:buFont typeface="Arial"/>
              <a:buNone/>
            </a:pPr>
            <a:r>
              <a:rPr b="0" i="0" lang="es" sz="1400" u="none" cap="none" strike="noStrike">
                <a:solidFill>
                  <a:srgbClr val="E6E0FF"/>
                </a:solidFill>
                <a:latin typeface="Arial"/>
                <a:ea typeface="Arial"/>
                <a:cs typeface="Arial"/>
                <a:sym typeface="Arial"/>
              </a:rPr>
              <a:t>Algoritmos de ordenamiento para comparar rendimiento entre Kotlin y VB.NET</a:t>
            </a:r>
            <a:endParaRPr b="0" i="0" sz="1400" u="none" cap="none" strike="noStrike">
              <a:solidFill>
                <a:schemeClr val="dk1"/>
              </a:solidFill>
              <a:latin typeface="Arial"/>
              <a:ea typeface="Arial"/>
              <a:cs typeface="Arial"/>
              <a:sym typeface="Arial"/>
            </a:endParaRPr>
          </a:p>
        </p:txBody>
      </p:sp>
      <p:sp>
        <p:nvSpPr>
          <p:cNvPr id="206" name="Google Shape;206;p22"/>
          <p:cNvSpPr/>
          <p:nvPr/>
        </p:nvSpPr>
        <p:spPr>
          <a:xfrm>
            <a:off x="658386" y="2825496"/>
            <a:ext cx="13032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t/>
            </a:r>
            <a:endParaRPr b="0" i="0" sz="700" u="none" cap="none" strike="noStrike">
              <a:solidFill>
                <a:schemeClr val="dk1"/>
              </a:solidFill>
              <a:latin typeface="Arial"/>
              <a:ea typeface="Arial"/>
              <a:cs typeface="Arial"/>
              <a:sym typeface="Arial"/>
            </a:endParaRPr>
          </a:p>
        </p:txBody>
      </p:sp>
      <p:sp>
        <p:nvSpPr>
          <p:cNvPr id="207" name="Google Shape;207;p22"/>
          <p:cNvSpPr/>
          <p:nvPr/>
        </p:nvSpPr>
        <p:spPr>
          <a:xfrm>
            <a:off x="5555128" y="1474470"/>
            <a:ext cx="432000" cy="397800"/>
          </a:xfrm>
          <a:prstGeom prst="roundRect">
            <a:avLst>
              <a:gd fmla="val 12069" name="adj"/>
            </a:avLst>
          </a:prstGeom>
          <a:solidFill>
            <a:srgbClr val="FF9F1C"/>
          </a:solidFill>
          <a:ln cap="flat" cmpd="sng" w="15225">
            <a:solidFill>
              <a:srgbClr val="8B7E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22"/>
          <p:cNvSpPr/>
          <p:nvPr/>
        </p:nvSpPr>
        <p:spPr>
          <a:xfrm>
            <a:off x="5555128" y="158419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5</a:t>
            </a:r>
            <a:endParaRPr b="0" i="0" sz="1100" u="none" cap="none" strike="noStrike">
              <a:solidFill>
                <a:schemeClr val="dk1"/>
              </a:solidFill>
              <a:latin typeface="Arial"/>
              <a:ea typeface="Arial"/>
              <a:cs typeface="Arial"/>
              <a:sym typeface="Arial"/>
            </a:endParaRPr>
          </a:p>
        </p:txBody>
      </p:sp>
      <p:sp>
        <p:nvSpPr>
          <p:cNvPr id="209" name="Google Shape;209;p22"/>
          <p:cNvSpPr/>
          <p:nvPr/>
        </p:nvSpPr>
        <p:spPr>
          <a:xfrm>
            <a:off x="6076350" y="1474470"/>
            <a:ext cx="432000" cy="397800"/>
          </a:xfrm>
          <a:prstGeom prst="roundRect">
            <a:avLst>
              <a:gd fmla="val 12069" name="adj"/>
            </a:avLst>
          </a:prstGeom>
          <a:solidFill>
            <a:srgbClr val="2B2445"/>
          </a:solidFill>
          <a:ln cap="flat" cmpd="sng" w="15225">
            <a:solidFill>
              <a:srgbClr val="8B7E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2"/>
          <p:cNvSpPr/>
          <p:nvPr/>
        </p:nvSpPr>
        <p:spPr>
          <a:xfrm>
            <a:off x="6076350" y="158419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211" name="Google Shape;211;p22"/>
          <p:cNvSpPr/>
          <p:nvPr/>
        </p:nvSpPr>
        <p:spPr>
          <a:xfrm>
            <a:off x="6597572" y="1474470"/>
            <a:ext cx="432000" cy="397800"/>
          </a:xfrm>
          <a:prstGeom prst="roundRect">
            <a:avLst>
              <a:gd fmla="val 12069" name="adj"/>
            </a:avLst>
          </a:prstGeom>
          <a:solidFill>
            <a:srgbClr val="2B2445"/>
          </a:solidFill>
          <a:ln cap="flat" cmpd="sng" w="15225">
            <a:solidFill>
              <a:srgbClr val="8B7E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22"/>
          <p:cNvSpPr/>
          <p:nvPr/>
        </p:nvSpPr>
        <p:spPr>
          <a:xfrm>
            <a:off x="6597572" y="158419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4</a:t>
            </a:r>
            <a:endParaRPr b="0" i="0" sz="1100" u="none" cap="none" strike="noStrike">
              <a:solidFill>
                <a:schemeClr val="dk1"/>
              </a:solidFill>
              <a:latin typeface="Arial"/>
              <a:ea typeface="Arial"/>
              <a:cs typeface="Arial"/>
              <a:sym typeface="Arial"/>
            </a:endParaRPr>
          </a:p>
        </p:txBody>
      </p:sp>
      <p:sp>
        <p:nvSpPr>
          <p:cNvPr id="213" name="Google Shape;213;p22"/>
          <p:cNvSpPr/>
          <p:nvPr/>
        </p:nvSpPr>
        <p:spPr>
          <a:xfrm>
            <a:off x="7118794" y="1474470"/>
            <a:ext cx="432000" cy="397800"/>
          </a:xfrm>
          <a:prstGeom prst="roundRect">
            <a:avLst>
              <a:gd fmla="val 12069" name="adj"/>
            </a:avLst>
          </a:prstGeom>
          <a:solidFill>
            <a:srgbClr val="2B2445"/>
          </a:solidFill>
          <a:ln cap="flat" cmpd="sng" w="15225">
            <a:solidFill>
              <a:srgbClr val="8B7E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2"/>
          <p:cNvSpPr/>
          <p:nvPr/>
        </p:nvSpPr>
        <p:spPr>
          <a:xfrm>
            <a:off x="7118794" y="158419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215" name="Google Shape;215;p22"/>
          <p:cNvSpPr/>
          <p:nvPr/>
        </p:nvSpPr>
        <p:spPr>
          <a:xfrm>
            <a:off x="7640016" y="1474470"/>
            <a:ext cx="432000" cy="397800"/>
          </a:xfrm>
          <a:prstGeom prst="roundRect">
            <a:avLst>
              <a:gd fmla="val 12069" name="adj"/>
            </a:avLst>
          </a:prstGeom>
          <a:solidFill>
            <a:srgbClr val="2B2445"/>
          </a:solidFill>
          <a:ln cap="flat" cmpd="sng" w="15225">
            <a:solidFill>
              <a:srgbClr val="8B7E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2"/>
          <p:cNvSpPr/>
          <p:nvPr/>
        </p:nvSpPr>
        <p:spPr>
          <a:xfrm>
            <a:off x="7640016" y="158419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cxnSp>
        <p:nvCxnSpPr>
          <p:cNvPr id="217" name="Google Shape;217;p22"/>
          <p:cNvCxnSpPr/>
          <p:nvPr/>
        </p:nvCxnSpPr>
        <p:spPr>
          <a:xfrm>
            <a:off x="5774590" y="2084832"/>
            <a:ext cx="370200" cy="0"/>
          </a:xfrm>
          <a:prstGeom prst="straightConnector1">
            <a:avLst/>
          </a:prstGeom>
          <a:noFill/>
          <a:ln cap="flat" cmpd="sng" w="30475">
            <a:solidFill>
              <a:srgbClr val="FF9F1C"/>
            </a:solidFill>
            <a:prstDash val="solid"/>
            <a:round/>
            <a:headEnd len="sm" w="sm" type="none"/>
            <a:tailEnd len="med" w="med" type="triangle"/>
          </a:ln>
        </p:spPr>
      </p:cxnSp>
      <p:sp>
        <p:nvSpPr>
          <p:cNvPr id="218" name="Google Shape;218;p22"/>
          <p:cNvSpPr/>
          <p:nvPr/>
        </p:nvSpPr>
        <p:spPr>
          <a:xfrm>
            <a:off x="5555128" y="2228850"/>
            <a:ext cx="27432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0FF"/>
              </a:buClr>
              <a:buSzPts val="1100"/>
              <a:buFont typeface="Arial"/>
              <a:buNone/>
            </a:pPr>
            <a:r>
              <a:rPr b="0" i="0" lang="es" sz="1100" u="none" cap="none" strike="noStrike">
                <a:solidFill>
                  <a:srgbClr val="E6E0FF"/>
                </a:solidFill>
                <a:latin typeface="Arial"/>
                <a:ea typeface="Arial"/>
                <a:cs typeface="Arial"/>
                <a:sym typeface="Arial"/>
              </a:rPr>
              <a:t>ordenar</a:t>
            </a:r>
            <a:endParaRPr b="0" i="0" sz="1100" u="none" cap="none" strike="noStrike">
              <a:solidFill>
                <a:schemeClr val="dk1"/>
              </a:solidFill>
              <a:latin typeface="Arial"/>
              <a:ea typeface="Arial"/>
              <a:cs typeface="Arial"/>
              <a:sym typeface="Arial"/>
            </a:endParaRPr>
          </a:p>
        </p:txBody>
      </p:sp>
      <p:sp>
        <p:nvSpPr>
          <p:cNvPr id="219" name="Google Shape;219;p22"/>
          <p:cNvSpPr/>
          <p:nvPr/>
        </p:nvSpPr>
        <p:spPr>
          <a:xfrm>
            <a:off x="5555128" y="2743200"/>
            <a:ext cx="432000" cy="397800"/>
          </a:xfrm>
          <a:prstGeom prst="roundRect">
            <a:avLst>
              <a:gd fmla="val 12069" name="adj"/>
            </a:avLst>
          </a:prstGeom>
          <a:solidFill>
            <a:srgbClr val="24B47E"/>
          </a:solidFill>
          <a:ln cap="flat" cmpd="sng" w="15225">
            <a:solidFill>
              <a:srgbClr val="97E2C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22"/>
          <p:cNvSpPr/>
          <p:nvPr/>
        </p:nvSpPr>
        <p:spPr>
          <a:xfrm>
            <a:off x="5555128" y="285292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221" name="Google Shape;221;p22"/>
          <p:cNvSpPr/>
          <p:nvPr/>
        </p:nvSpPr>
        <p:spPr>
          <a:xfrm>
            <a:off x="6076350" y="2743200"/>
            <a:ext cx="432000" cy="397800"/>
          </a:xfrm>
          <a:prstGeom prst="roundRect">
            <a:avLst>
              <a:gd fmla="val 12069" name="adj"/>
            </a:avLst>
          </a:prstGeom>
          <a:solidFill>
            <a:srgbClr val="24B47E"/>
          </a:solidFill>
          <a:ln cap="flat" cmpd="sng" w="15225">
            <a:solidFill>
              <a:srgbClr val="97E2C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22"/>
          <p:cNvSpPr/>
          <p:nvPr/>
        </p:nvSpPr>
        <p:spPr>
          <a:xfrm>
            <a:off x="6076350" y="285292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223" name="Google Shape;223;p22"/>
          <p:cNvSpPr/>
          <p:nvPr/>
        </p:nvSpPr>
        <p:spPr>
          <a:xfrm>
            <a:off x="6597572" y="2743200"/>
            <a:ext cx="432000" cy="397800"/>
          </a:xfrm>
          <a:prstGeom prst="roundRect">
            <a:avLst>
              <a:gd fmla="val 12069" name="adj"/>
            </a:avLst>
          </a:prstGeom>
          <a:solidFill>
            <a:srgbClr val="24B47E"/>
          </a:solidFill>
          <a:ln cap="flat" cmpd="sng" w="15225">
            <a:solidFill>
              <a:srgbClr val="97E2C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4" name="Google Shape;224;p22"/>
          <p:cNvSpPr/>
          <p:nvPr/>
        </p:nvSpPr>
        <p:spPr>
          <a:xfrm>
            <a:off x="6597572" y="285292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sp>
        <p:nvSpPr>
          <p:cNvPr id="225" name="Google Shape;225;p22"/>
          <p:cNvSpPr/>
          <p:nvPr/>
        </p:nvSpPr>
        <p:spPr>
          <a:xfrm>
            <a:off x="7118794" y="2743200"/>
            <a:ext cx="432000" cy="397800"/>
          </a:xfrm>
          <a:prstGeom prst="roundRect">
            <a:avLst>
              <a:gd fmla="val 12069" name="adj"/>
            </a:avLst>
          </a:prstGeom>
          <a:solidFill>
            <a:srgbClr val="24B47E"/>
          </a:solidFill>
          <a:ln cap="flat" cmpd="sng" w="15225">
            <a:solidFill>
              <a:srgbClr val="97E2C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22"/>
          <p:cNvSpPr/>
          <p:nvPr/>
        </p:nvSpPr>
        <p:spPr>
          <a:xfrm>
            <a:off x="7118794" y="285292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4</a:t>
            </a:r>
            <a:endParaRPr b="0" i="0" sz="1100" u="none" cap="none" strike="noStrike">
              <a:solidFill>
                <a:schemeClr val="dk1"/>
              </a:solidFill>
              <a:latin typeface="Arial"/>
              <a:ea typeface="Arial"/>
              <a:cs typeface="Arial"/>
              <a:sym typeface="Arial"/>
            </a:endParaRPr>
          </a:p>
        </p:txBody>
      </p:sp>
      <p:sp>
        <p:nvSpPr>
          <p:cNvPr id="227" name="Google Shape;227;p22"/>
          <p:cNvSpPr/>
          <p:nvPr/>
        </p:nvSpPr>
        <p:spPr>
          <a:xfrm>
            <a:off x="7640016" y="2743200"/>
            <a:ext cx="432000" cy="397800"/>
          </a:xfrm>
          <a:prstGeom prst="roundRect">
            <a:avLst>
              <a:gd fmla="val 12069" name="adj"/>
            </a:avLst>
          </a:prstGeom>
          <a:solidFill>
            <a:srgbClr val="24B47E"/>
          </a:solidFill>
          <a:ln cap="flat" cmpd="sng" w="15225">
            <a:solidFill>
              <a:srgbClr val="97E2C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22"/>
          <p:cNvSpPr/>
          <p:nvPr/>
        </p:nvSpPr>
        <p:spPr>
          <a:xfrm>
            <a:off x="7640016" y="285292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s" sz="1100" u="none" cap="none" strike="noStrike">
                <a:solidFill>
                  <a:srgbClr val="FFFFFF"/>
                </a:solidFill>
                <a:latin typeface="Arial"/>
                <a:ea typeface="Arial"/>
                <a:cs typeface="Arial"/>
                <a:sym typeface="Arial"/>
              </a:rPr>
              <a:t>5</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3"/>
          <p:cNvSpPr/>
          <p:nvPr/>
        </p:nvSpPr>
        <p:spPr>
          <a:xfrm>
            <a:off x="388500" y="621380"/>
            <a:ext cx="83670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300"/>
              <a:buFont typeface="Play"/>
              <a:buNone/>
            </a:pPr>
            <a:r>
              <a:rPr b="1" i="0" lang="es" sz="2300" u="none" cap="none" strike="noStrike">
                <a:solidFill>
                  <a:schemeClr val="lt1"/>
                </a:solidFill>
                <a:latin typeface="Play"/>
                <a:ea typeface="Play"/>
                <a:cs typeface="Play"/>
                <a:sym typeface="Play"/>
              </a:rPr>
              <a:t>Bubble Sort</a:t>
            </a:r>
            <a:endParaRPr b="0" i="0" sz="2300" u="none" cap="none" strike="noStrike">
              <a:solidFill>
                <a:schemeClr val="lt1"/>
              </a:solidFill>
              <a:latin typeface="Arial"/>
              <a:ea typeface="Arial"/>
              <a:cs typeface="Arial"/>
              <a:sym typeface="Arial"/>
            </a:endParaRPr>
          </a:p>
        </p:txBody>
      </p:sp>
      <p:sp>
        <p:nvSpPr>
          <p:cNvPr id="234" name="Google Shape;234;p23"/>
          <p:cNvSpPr/>
          <p:nvPr/>
        </p:nvSpPr>
        <p:spPr>
          <a:xfrm>
            <a:off x="402216" y="1012286"/>
            <a:ext cx="7887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370"/>
              </a:buClr>
              <a:buSzPts val="900"/>
              <a:buFont typeface="Arial"/>
              <a:buNone/>
            </a:pPr>
            <a:r>
              <a:rPr b="0" i="0" lang="es" sz="900" u="none" cap="none" strike="noStrike">
                <a:solidFill>
                  <a:srgbClr val="5A5370"/>
                </a:solidFill>
                <a:latin typeface="Arial"/>
                <a:ea typeface="Arial"/>
                <a:cs typeface="Arial"/>
                <a:sym typeface="Arial"/>
              </a:rPr>
              <a:t>Compara vecinos y los intercambia si están fuera de orden.</a:t>
            </a:r>
            <a:endParaRPr b="0" i="0" sz="900" u="none" cap="none" strike="noStrike">
              <a:solidFill>
                <a:schemeClr val="dk1"/>
              </a:solidFill>
              <a:latin typeface="Arial"/>
              <a:ea typeface="Arial"/>
              <a:cs typeface="Arial"/>
              <a:sym typeface="Arial"/>
            </a:endParaRPr>
          </a:p>
        </p:txBody>
      </p:sp>
      <p:sp>
        <p:nvSpPr>
          <p:cNvPr id="235" name="Google Shape;235;p23"/>
          <p:cNvSpPr/>
          <p:nvPr/>
        </p:nvSpPr>
        <p:spPr>
          <a:xfrm>
            <a:off x="628536" y="1444340"/>
            <a:ext cx="432000" cy="397800"/>
          </a:xfrm>
          <a:prstGeom prst="roundRect">
            <a:avLst>
              <a:gd fmla="val 12069" name="adj"/>
            </a:avLst>
          </a:prstGeom>
          <a:solidFill>
            <a:srgbClr val="FFF2D9"/>
          </a:solidFill>
          <a:ln cap="flat" cmpd="sng" w="15225">
            <a:solidFill>
              <a:srgbClr val="FF9F1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23"/>
          <p:cNvSpPr/>
          <p:nvPr/>
        </p:nvSpPr>
        <p:spPr>
          <a:xfrm>
            <a:off x="628536" y="155406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5</a:t>
            </a:r>
            <a:endParaRPr b="0" i="0" sz="1100" u="none" cap="none" strike="noStrike">
              <a:solidFill>
                <a:schemeClr val="dk1"/>
              </a:solidFill>
              <a:latin typeface="Arial"/>
              <a:ea typeface="Arial"/>
              <a:cs typeface="Arial"/>
              <a:sym typeface="Arial"/>
            </a:endParaRPr>
          </a:p>
        </p:txBody>
      </p:sp>
      <p:sp>
        <p:nvSpPr>
          <p:cNvPr id="237" name="Google Shape;237;p23"/>
          <p:cNvSpPr/>
          <p:nvPr/>
        </p:nvSpPr>
        <p:spPr>
          <a:xfrm>
            <a:off x="1142900" y="1444340"/>
            <a:ext cx="432000" cy="397800"/>
          </a:xfrm>
          <a:prstGeom prst="roundRect">
            <a:avLst>
              <a:gd fmla="val 12069" name="adj"/>
            </a:avLst>
          </a:prstGeom>
          <a:solidFill>
            <a:srgbClr val="FFF2D9"/>
          </a:solidFill>
          <a:ln cap="flat" cmpd="sng" w="15225">
            <a:solidFill>
              <a:srgbClr val="FF9F1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p23"/>
          <p:cNvSpPr/>
          <p:nvPr/>
        </p:nvSpPr>
        <p:spPr>
          <a:xfrm>
            <a:off x="1142900" y="155406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239" name="Google Shape;239;p23"/>
          <p:cNvSpPr/>
          <p:nvPr/>
        </p:nvSpPr>
        <p:spPr>
          <a:xfrm>
            <a:off x="1657264" y="1444340"/>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23"/>
          <p:cNvSpPr/>
          <p:nvPr/>
        </p:nvSpPr>
        <p:spPr>
          <a:xfrm>
            <a:off x="1657264" y="155406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4</a:t>
            </a:r>
            <a:endParaRPr b="0" i="0" sz="1100" u="none" cap="none" strike="noStrike">
              <a:solidFill>
                <a:schemeClr val="dk1"/>
              </a:solidFill>
              <a:latin typeface="Arial"/>
              <a:ea typeface="Arial"/>
              <a:cs typeface="Arial"/>
              <a:sym typeface="Arial"/>
            </a:endParaRPr>
          </a:p>
        </p:txBody>
      </p:sp>
      <p:sp>
        <p:nvSpPr>
          <p:cNvPr id="241" name="Google Shape;241;p23"/>
          <p:cNvSpPr/>
          <p:nvPr/>
        </p:nvSpPr>
        <p:spPr>
          <a:xfrm>
            <a:off x="2171628" y="1444340"/>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2" name="Google Shape;242;p23"/>
          <p:cNvSpPr/>
          <p:nvPr/>
        </p:nvSpPr>
        <p:spPr>
          <a:xfrm>
            <a:off x="2171628" y="155406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243" name="Google Shape;243;p23"/>
          <p:cNvSpPr/>
          <p:nvPr/>
        </p:nvSpPr>
        <p:spPr>
          <a:xfrm>
            <a:off x="2685991" y="1444340"/>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3"/>
          <p:cNvSpPr/>
          <p:nvPr/>
        </p:nvSpPr>
        <p:spPr>
          <a:xfrm>
            <a:off x="2685991" y="1554068"/>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sp>
        <p:nvSpPr>
          <p:cNvPr id="245" name="Google Shape;245;p23"/>
          <p:cNvSpPr/>
          <p:nvPr/>
        </p:nvSpPr>
        <p:spPr>
          <a:xfrm>
            <a:off x="649111" y="1944974"/>
            <a:ext cx="1234500" cy="150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F1C"/>
              </a:buClr>
              <a:buSzPts val="800"/>
              <a:buFont typeface="Arial"/>
              <a:buNone/>
            </a:pPr>
            <a:r>
              <a:rPr b="1" i="0" lang="es" sz="800" u="none" cap="none" strike="noStrike">
                <a:solidFill>
                  <a:srgbClr val="FF9F1C"/>
                </a:solidFill>
                <a:latin typeface="Arial"/>
                <a:ea typeface="Arial"/>
                <a:cs typeface="Arial"/>
                <a:sym typeface="Arial"/>
              </a:rPr>
              <a:t>compara vecinos</a:t>
            </a:r>
            <a:endParaRPr b="0" i="0" sz="800" u="none" cap="none" strike="noStrike">
              <a:solidFill>
                <a:schemeClr val="dk1"/>
              </a:solidFill>
              <a:latin typeface="Arial"/>
              <a:ea typeface="Arial"/>
              <a:cs typeface="Arial"/>
              <a:sym typeface="Arial"/>
            </a:endParaRPr>
          </a:p>
        </p:txBody>
      </p:sp>
      <p:cxnSp>
        <p:nvCxnSpPr>
          <p:cNvPr id="246" name="Google Shape;246;p23"/>
          <p:cNvCxnSpPr/>
          <p:nvPr/>
        </p:nvCxnSpPr>
        <p:spPr>
          <a:xfrm>
            <a:off x="847998" y="1821530"/>
            <a:ext cx="534900" cy="0"/>
          </a:xfrm>
          <a:prstGeom prst="straightConnector1">
            <a:avLst/>
          </a:prstGeom>
          <a:noFill/>
          <a:ln cap="flat" cmpd="sng" w="30475">
            <a:solidFill>
              <a:srgbClr val="FF9F1C"/>
            </a:solidFill>
            <a:prstDash val="solid"/>
            <a:round/>
            <a:headEnd len="sm" w="sm" type="none"/>
            <a:tailEnd len="med" w="med" type="triangle"/>
          </a:ln>
        </p:spPr>
      </p:cxnSp>
      <p:sp>
        <p:nvSpPr>
          <p:cNvPr id="247" name="Google Shape;247;p23"/>
          <p:cNvSpPr/>
          <p:nvPr/>
        </p:nvSpPr>
        <p:spPr>
          <a:xfrm>
            <a:off x="628536" y="2267300"/>
            <a:ext cx="284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1200"/>
              <a:buFont typeface="Arial"/>
              <a:buNone/>
            </a:pPr>
            <a:r>
              <a:rPr b="1" i="0" lang="es" sz="1200" u="none" cap="none" strike="noStrike">
                <a:solidFill>
                  <a:schemeClr val="lt1"/>
                </a:solidFill>
                <a:latin typeface="Arial"/>
                <a:ea typeface="Arial"/>
                <a:cs typeface="Arial"/>
                <a:sym typeface="Arial"/>
              </a:rPr>
              <a:t>Si el izquierdo es mayor, se intercambian.</a:t>
            </a:r>
            <a:endParaRPr b="0" i="0" sz="1200" u="none" cap="none" strike="noStrike">
              <a:solidFill>
                <a:schemeClr val="lt1"/>
              </a:solidFill>
              <a:latin typeface="Arial"/>
              <a:ea typeface="Arial"/>
              <a:cs typeface="Arial"/>
              <a:sym typeface="Arial"/>
            </a:endParaRPr>
          </a:p>
        </p:txBody>
      </p:sp>
      <p:sp>
        <p:nvSpPr>
          <p:cNvPr id="248" name="Google Shape;248;p23"/>
          <p:cNvSpPr/>
          <p:nvPr/>
        </p:nvSpPr>
        <p:spPr>
          <a:xfrm>
            <a:off x="628536" y="2658206"/>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p23"/>
          <p:cNvSpPr/>
          <p:nvPr/>
        </p:nvSpPr>
        <p:spPr>
          <a:xfrm>
            <a:off x="628536" y="2767934"/>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250" name="Google Shape;250;p23"/>
          <p:cNvSpPr/>
          <p:nvPr/>
        </p:nvSpPr>
        <p:spPr>
          <a:xfrm>
            <a:off x="1142900" y="2658206"/>
            <a:ext cx="432000" cy="397800"/>
          </a:xfrm>
          <a:prstGeom prst="roundRect">
            <a:avLst>
              <a:gd fmla="val 12069" name="adj"/>
            </a:avLst>
          </a:prstGeom>
          <a:solidFill>
            <a:srgbClr val="FFF2D9"/>
          </a:solidFill>
          <a:ln cap="flat" cmpd="sng" w="15225">
            <a:solidFill>
              <a:srgbClr val="FF9F1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23"/>
          <p:cNvSpPr/>
          <p:nvPr/>
        </p:nvSpPr>
        <p:spPr>
          <a:xfrm>
            <a:off x="1142900" y="2767934"/>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5</a:t>
            </a:r>
            <a:endParaRPr b="0" i="0" sz="1100" u="none" cap="none" strike="noStrike">
              <a:solidFill>
                <a:schemeClr val="dk1"/>
              </a:solidFill>
              <a:latin typeface="Arial"/>
              <a:ea typeface="Arial"/>
              <a:cs typeface="Arial"/>
              <a:sym typeface="Arial"/>
            </a:endParaRPr>
          </a:p>
        </p:txBody>
      </p:sp>
      <p:sp>
        <p:nvSpPr>
          <p:cNvPr id="252" name="Google Shape;252;p23"/>
          <p:cNvSpPr/>
          <p:nvPr/>
        </p:nvSpPr>
        <p:spPr>
          <a:xfrm>
            <a:off x="1657264" y="2658206"/>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23"/>
          <p:cNvSpPr/>
          <p:nvPr/>
        </p:nvSpPr>
        <p:spPr>
          <a:xfrm>
            <a:off x="1657264" y="2767934"/>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4</a:t>
            </a:r>
            <a:endParaRPr b="0" i="0" sz="1100" u="none" cap="none" strike="noStrike">
              <a:solidFill>
                <a:schemeClr val="dk1"/>
              </a:solidFill>
              <a:latin typeface="Arial"/>
              <a:ea typeface="Arial"/>
              <a:cs typeface="Arial"/>
              <a:sym typeface="Arial"/>
            </a:endParaRPr>
          </a:p>
        </p:txBody>
      </p:sp>
      <p:sp>
        <p:nvSpPr>
          <p:cNvPr id="254" name="Google Shape;254;p23"/>
          <p:cNvSpPr/>
          <p:nvPr/>
        </p:nvSpPr>
        <p:spPr>
          <a:xfrm>
            <a:off x="2171628" y="2658206"/>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23"/>
          <p:cNvSpPr/>
          <p:nvPr/>
        </p:nvSpPr>
        <p:spPr>
          <a:xfrm>
            <a:off x="2171628" y="2767934"/>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256" name="Google Shape;256;p23"/>
          <p:cNvSpPr/>
          <p:nvPr/>
        </p:nvSpPr>
        <p:spPr>
          <a:xfrm>
            <a:off x="2685991" y="2658206"/>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23"/>
          <p:cNvSpPr/>
          <p:nvPr/>
        </p:nvSpPr>
        <p:spPr>
          <a:xfrm>
            <a:off x="2685991" y="2767934"/>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sp>
        <p:nvSpPr>
          <p:cNvPr id="258" name="Google Shape;258;p23"/>
          <p:cNvSpPr/>
          <p:nvPr/>
        </p:nvSpPr>
        <p:spPr>
          <a:xfrm>
            <a:off x="628536" y="3227420"/>
            <a:ext cx="2949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370"/>
              </a:buClr>
              <a:buSzPts val="1200"/>
              <a:buFont typeface="Arial"/>
              <a:buNone/>
            </a:pPr>
            <a:r>
              <a:rPr b="0" i="0" lang="es" sz="1200" u="none" cap="none" strike="noStrike">
                <a:solidFill>
                  <a:srgbClr val="5A5370"/>
                </a:solidFill>
                <a:latin typeface="Arial"/>
                <a:ea typeface="Arial"/>
                <a:cs typeface="Arial"/>
                <a:sym typeface="Arial"/>
              </a:rPr>
              <a:t>Repite pasadas hasta que el arreglo quede ordenado.</a:t>
            </a:r>
            <a:endParaRPr b="0" i="0" sz="1200" u="none" cap="none" strike="noStrike">
              <a:solidFill>
                <a:schemeClr val="dk1"/>
              </a:solidFill>
              <a:latin typeface="Arial"/>
              <a:ea typeface="Arial"/>
              <a:cs typeface="Arial"/>
              <a:sym typeface="Arial"/>
            </a:endParaRPr>
          </a:p>
        </p:txBody>
      </p:sp>
      <p:sp>
        <p:nvSpPr>
          <p:cNvPr id="259" name="Google Shape;259;p23"/>
          <p:cNvSpPr/>
          <p:nvPr/>
        </p:nvSpPr>
        <p:spPr>
          <a:xfrm>
            <a:off x="4400537" y="1375760"/>
            <a:ext cx="4046400" cy="2640300"/>
          </a:xfrm>
          <a:prstGeom prst="roundRect">
            <a:avLst>
              <a:gd fmla="val 3636" name="adj"/>
            </a:avLst>
          </a:prstGeom>
          <a:solidFill>
            <a:srgbClr val="FFFFFF"/>
          </a:solidFill>
          <a:ln cap="flat" cmpd="sng" w="12700">
            <a:solidFill>
              <a:srgbClr val="E5DDF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23"/>
          <p:cNvSpPr/>
          <p:nvPr/>
        </p:nvSpPr>
        <p:spPr>
          <a:xfrm>
            <a:off x="4640573" y="1629506"/>
            <a:ext cx="342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1600"/>
              <a:buFont typeface="Arial"/>
              <a:buNone/>
            </a:pPr>
            <a:r>
              <a:rPr b="1" i="0" lang="es" sz="1600" u="none" cap="none" strike="noStrike">
                <a:solidFill>
                  <a:srgbClr val="1F1B2E"/>
                </a:solidFill>
                <a:latin typeface="Arial"/>
                <a:ea typeface="Arial"/>
                <a:cs typeface="Arial"/>
                <a:sym typeface="Arial"/>
              </a:rPr>
              <a:t>Cómo funciona</a:t>
            </a:r>
            <a:endParaRPr b="0" i="0" sz="1600" u="none" cap="none" strike="noStrike">
              <a:solidFill>
                <a:schemeClr val="dk1"/>
              </a:solidFill>
              <a:latin typeface="Arial"/>
              <a:ea typeface="Arial"/>
              <a:cs typeface="Arial"/>
              <a:sym typeface="Arial"/>
            </a:endParaRPr>
          </a:p>
        </p:txBody>
      </p:sp>
      <p:sp>
        <p:nvSpPr>
          <p:cNvPr id="261" name="Google Shape;261;p23"/>
          <p:cNvSpPr/>
          <p:nvPr/>
        </p:nvSpPr>
        <p:spPr>
          <a:xfrm>
            <a:off x="4640573" y="1992980"/>
            <a:ext cx="3531900" cy="1165800"/>
          </a:xfrm>
          <a:prstGeom prst="rect">
            <a:avLst/>
          </a:prstGeom>
          <a:noFill/>
          <a:ln>
            <a:noFill/>
          </a:ln>
        </p:spPr>
        <p:txBody>
          <a:bodyPr anchorCtr="0" anchor="ctr" bIns="750" lIns="750" spcFirstLastPara="1" rIns="750" wrap="square" tIns="750">
            <a:noAutofit/>
          </a:bodyPr>
          <a:lstStyle/>
          <a:p>
            <a:pPr indent="0" lvl="0" marL="0" marR="0" rtl="0" algn="l">
              <a:spcBef>
                <a:spcPts val="0"/>
              </a:spcBef>
              <a:spcAft>
                <a:spcPts val="0"/>
              </a:spcAft>
              <a:buClr>
                <a:srgbClr val="1F1B2E"/>
              </a:buClr>
              <a:buSzPts val="1200"/>
              <a:buFont typeface="Arial"/>
              <a:buNone/>
            </a:pPr>
            <a:r>
              <a:rPr b="0" i="0" lang="es" sz="1200" u="none" cap="none" strike="noStrike">
                <a:solidFill>
                  <a:srgbClr val="1F1B2E"/>
                </a:solidFill>
                <a:latin typeface="Arial"/>
                <a:ea typeface="Arial"/>
                <a:cs typeface="Arial"/>
                <a:sym typeface="Arial"/>
              </a:rPr>
              <a:t>• Recorre el arreglo varias veces.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F1B2E"/>
              </a:buClr>
              <a:buSzPts val="1200"/>
              <a:buFont typeface="Arial"/>
              <a:buNone/>
            </a:pPr>
            <a:r>
              <a:rPr b="0" i="0" lang="es" sz="1200" u="none" cap="none" strike="noStrike">
                <a:solidFill>
                  <a:srgbClr val="1F1B2E"/>
                </a:solidFill>
                <a:latin typeface="Arial"/>
                <a:ea typeface="Arial"/>
                <a:cs typeface="Arial"/>
                <a:sym typeface="Arial"/>
              </a:rPr>
              <a:t>• En cada pasada compara elementos consecutivos.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F1B2E"/>
              </a:buClr>
              <a:buSzPts val="1200"/>
              <a:buFont typeface="Arial"/>
              <a:buNone/>
            </a:pPr>
            <a:r>
              <a:rPr b="0" i="0" lang="es" sz="1200" u="none" cap="none" strike="noStrike">
                <a:solidFill>
                  <a:srgbClr val="1F1B2E"/>
                </a:solidFill>
                <a:latin typeface="Arial"/>
                <a:ea typeface="Arial"/>
                <a:cs typeface="Arial"/>
                <a:sym typeface="Arial"/>
              </a:rPr>
              <a:t>• Los valores grandes van “subiendo” hacia el final.</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F1B2E"/>
              </a:buClr>
              <a:buSzPts val="1200"/>
              <a:buFont typeface="Arial"/>
              <a:buNone/>
            </a:pPr>
            <a:r>
              <a:rPr b="0" i="0" lang="es" sz="1200" u="none" cap="none" strike="noStrike">
                <a:solidFill>
                  <a:srgbClr val="1F1B2E"/>
                </a:solidFill>
                <a:latin typeface="Arial"/>
                <a:ea typeface="Arial"/>
                <a:cs typeface="Arial"/>
                <a:sym typeface="Arial"/>
              </a:rPr>
              <a:t>• Es simple, pero lento para listas grandes.</a:t>
            </a:r>
            <a:endParaRPr b="0" i="0" sz="1200" u="none" cap="none" strike="noStrike">
              <a:solidFill>
                <a:schemeClr val="dk1"/>
              </a:solidFill>
              <a:latin typeface="Arial"/>
              <a:ea typeface="Arial"/>
              <a:cs typeface="Arial"/>
              <a:sym typeface="Arial"/>
            </a:endParaRPr>
          </a:p>
        </p:txBody>
      </p:sp>
      <p:sp>
        <p:nvSpPr>
          <p:cNvPr id="262" name="Google Shape;262;p23"/>
          <p:cNvSpPr/>
          <p:nvPr/>
        </p:nvSpPr>
        <p:spPr>
          <a:xfrm>
            <a:off x="692236" y="3618331"/>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23"/>
          <p:cNvSpPr/>
          <p:nvPr/>
        </p:nvSpPr>
        <p:spPr>
          <a:xfrm>
            <a:off x="692236" y="3728059"/>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lang="es" sz="1100">
                <a:solidFill>
                  <a:srgbClr val="1F1B2E"/>
                </a:solidFill>
              </a:rPr>
              <a:t>1</a:t>
            </a:r>
            <a:endParaRPr b="0" i="0" sz="1100" u="none" cap="none" strike="noStrike">
              <a:solidFill>
                <a:schemeClr val="dk1"/>
              </a:solidFill>
              <a:latin typeface="Arial"/>
              <a:ea typeface="Arial"/>
              <a:cs typeface="Arial"/>
              <a:sym typeface="Arial"/>
            </a:endParaRPr>
          </a:p>
        </p:txBody>
      </p:sp>
      <p:sp>
        <p:nvSpPr>
          <p:cNvPr id="264" name="Google Shape;264;p23"/>
          <p:cNvSpPr/>
          <p:nvPr/>
        </p:nvSpPr>
        <p:spPr>
          <a:xfrm>
            <a:off x="1225264" y="3618331"/>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3"/>
          <p:cNvSpPr/>
          <p:nvPr/>
        </p:nvSpPr>
        <p:spPr>
          <a:xfrm>
            <a:off x="1225264" y="3728059"/>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lang="es" sz="1100">
                <a:solidFill>
                  <a:srgbClr val="1F1B2E"/>
                </a:solidFill>
              </a:rPr>
              <a:t>2</a:t>
            </a:r>
            <a:endParaRPr b="0" i="0" sz="1100" u="none" cap="none" strike="noStrike">
              <a:solidFill>
                <a:schemeClr val="dk1"/>
              </a:solidFill>
              <a:latin typeface="Arial"/>
              <a:ea typeface="Arial"/>
              <a:cs typeface="Arial"/>
              <a:sym typeface="Arial"/>
            </a:endParaRPr>
          </a:p>
        </p:txBody>
      </p:sp>
      <p:sp>
        <p:nvSpPr>
          <p:cNvPr id="266" name="Google Shape;266;p23"/>
          <p:cNvSpPr/>
          <p:nvPr/>
        </p:nvSpPr>
        <p:spPr>
          <a:xfrm>
            <a:off x="1739628" y="3618331"/>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7" name="Google Shape;267;p23"/>
          <p:cNvSpPr/>
          <p:nvPr/>
        </p:nvSpPr>
        <p:spPr>
          <a:xfrm>
            <a:off x="1748496" y="3728059"/>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lang="es" sz="1100">
                <a:solidFill>
                  <a:srgbClr val="1F1B2E"/>
                </a:solidFill>
              </a:rPr>
              <a:t>3</a:t>
            </a:r>
            <a:endParaRPr b="0" i="0" sz="1100" u="none" cap="none" strike="noStrike">
              <a:solidFill>
                <a:schemeClr val="dk1"/>
              </a:solidFill>
              <a:latin typeface="Arial"/>
              <a:ea typeface="Arial"/>
              <a:cs typeface="Arial"/>
              <a:sym typeface="Arial"/>
            </a:endParaRPr>
          </a:p>
        </p:txBody>
      </p:sp>
      <p:sp>
        <p:nvSpPr>
          <p:cNvPr id="268" name="Google Shape;268;p23"/>
          <p:cNvSpPr/>
          <p:nvPr/>
        </p:nvSpPr>
        <p:spPr>
          <a:xfrm>
            <a:off x="2253991" y="3618331"/>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23"/>
          <p:cNvSpPr/>
          <p:nvPr/>
        </p:nvSpPr>
        <p:spPr>
          <a:xfrm>
            <a:off x="2253991" y="3728059"/>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lang="es" sz="1100">
                <a:solidFill>
                  <a:srgbClr val="1F1B2E"/>
                </a:solidFill>
              </a:rPr>
              <a:t>4</a:t>
            </a:r>
            <a:endParaRPr b="0" i="0" sz="1100" u="none" cap="none" strike="noStrike">
              <a:solidFill>
                <a:schemeClr val="dk1"/>
              </a:solidFill>
              <a:latin typeface="Arial"/>
              <a:ea typeface="Arial"/>
              <a:cs typeface="Arial"/>
              <a:sym typeface="Arial"/>
            </a:endParaRPr>
          </a:p>
        </p:txBody>
      </p:sp>
      <p:sp>
        <p:nvSpPr>
          <p:cNvPr id="270" name="Google Shape;270;p23"/>
          <p:cNvSpPr/>
          <p:nvPr/>
        </p:nvSpPr>
        <p:spPr>
          <a:xfrm>
            <a:off x="2812900" y="3618331"/>
            <a:ext cx="432000" cy="397800"/>
          </a:xfrm>
          <a:prstGeom prst="roundRect">
            <a:avLst>
              <a:gd fmla="val 12069" name="adj"/>
            </a:avLst>
          </a:prstGeom>
          <a:solidFill>
            <a:srgbClr val="FFF2D9"/>
          </a:solidFill>
          <a:ln cap="flat" cmpd="sng" w="15225">
            <a:solidFill>
              <a:srgbClr val="FF9F1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1" name="Google Shape;271;p23"/>
          <p:cNvSpPr/>
          <p:nvPr/>
        </p:nvSpPr>
        <p:spPr>
          <a:xfrm>
            <a:off x="2812900" y="3728059"/>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5</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4"/>
          <p:cNvSpPr/>
          <p:nvPr/>
        </p:nvSpPr>
        <p:spPr>
          <a:xfrm>
            <a:off x="341725" y="470605"/>
            <a:ext cx="83670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300"/>
              <a:buFont typeface="Play"/>
              <a:buNone/>
            </a:pPr>
            <a:r>
              <a:rPr b="1" i="0" lang="es" sz="2300" u="none" cap="none" strike="noStrike">
                <a:solidFill>
                  <a:schemeClr val="lt1"/>
                </a:solidFill>
                <a:latin typeface="Play"/>
                <a:ea typeface="Play"/>
                <a:cs typeface="Play"/>
                <a:sym typeface="Play"/>
              </a:rPr>
              <a:t>Quick Sort</a:t>
            </a:r>
            <a:endParaRPr b="0" i="0" sz="2300" u="none" cap="none" strike="noStrike">
              <a:solidFill>
                <a:schemeClr val="lt1"/>
              </a:solidFill>
              <a:latin typeface="Arial"/>
              <a:ea typeface="Arial"/>
              <a:cs typeface="Arial"/>
              <a:sym typeface="Arial"/>
            </a:endParaRPr>
          </a:p>
        </p:txBody>
      </p:sp>
      <p:sp>
        <p:nvSpPr>
          <p:cNvPr id="277" name="Google Shape;277;p24"/>
          <p:cNvSpPr/>
          <p:nvPr/>
        </p:nvSpPr>
        <p:spPr>
          <a:xfrm>
            <a:off x="355441" y="861511"/>
            <a:ext cx="7887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370"/>
              </a:buClr>
              <a:buSzPts val="900"/>
              <a:buFont typeface="Arial"/>
              <a:buNone/>
            </a:pPr>
            <a:r>
              <a:rPr b="0" i="0" lang="es" sz="900" u="none" cap="none" strike="noStrike">
                <a:solidFill>
                  <a:srgbClr val="5A5370"/>
                </a:solidFill>
                <a:latin typeface="Arial"/>
                <a:ea typeface="Arial"/>
                <a:cs typeface="Arial"/>
                <a:sym typeface="Arial"/>
              </a:rPr>
              <a:t>Divide el arreglo usando un pivote y ordena las partes recursivamente.</a:t>
            </a:r>
            <a:endParaRPr b="0" i="0" sz="900" u="none" cap="none" strike="noStrike">
              <a:solidFill>
                <a:schemeClr val="dk1"/>
              </a:solidFill>
              <a:latin typeface="Arial"/>
              <a:ea typeface="Arial"/>
              <a:cs typeface="Arial"/>
              <a:sym typeface="Arial"/>
            </a:endParaRPr>
          </a:p>
        </p:txBody>
      </p:sp>
      <p:sp>
        <p:nvSpPr>
          <p:cNvPr id="278" name="Google Shape;278;p24"/>
          <p:cNvSpPr/>
          <p:nvPr/>
        </p:nvSpPr>
        <p:spPr>
          <a:xfrm>
            <a:off x="581761" y="1204411"/>
            <a:ext cx="2400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1400"/>
              <a:buFont typeface="Arial"/>
              <a:buNone/>
            </a:pPr>
            <a:r>
              <a:rPr b="1" i="0" lang="es" sz="1400" u="none" cap="none" strike="noStrike">
                <a:solidFill>
                  <a:schemeClr val="lt1"/>
                </a:solidFill>
                <a:latin typeface="Arial"/>
                <a:ea typeface="Arial"/>
                <a:cs typeface="Arial"/>
                <a:sym typeface="Arial"/>
              </a:rPr>
              <a:t>Ejemplo con pivote = 3</a:t>
            </a:r>
            <a:endParaRPr b="0" i="0" sz="1400" u="none" cap="none" strike="noStrike">
              <a:solidFill>
                <a:schemeClr val="lt1"/>
              </a:solidFill>
              <a:latin typeface="Arial"/>
              <a:ea typeface="Arial"/>
              <a:cs typeface="Arial"/>
              <a:sym typeface="Arial"/>
            </a:endParaRPr>
          </a:p>
        </p:txBody>
      </p:sp>
      <p:sp>
        <p:nvSpPr>
          <p:cNvPr id="279" name="Google Shape;279;p24"/>
          <p:cNvSpPr/>
          <p:nvPr/>
        </p:nvSpPr>
        <p:spPr>
          <a:xfrm>
            <a:off x="616052" y="156788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4"/>
          <p:cNvSpPr/>
          <p:nvPr/>
        </p:nvSpPr>
        <p:spPr>
          <a:xfrm>
            <a:off x="616052" y="167761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5</a:t>
            </a:r>
            <a:endParaRPr b="0" i="0" sz="1100" u="none" cap="none" strike="noStrike">
              <a:solidFill>
                <a:schemeClr val="dk1"/>
              </a:solidFill>
              <a:latin typeface="Arial"/>
              <a:ea typeface="Arial"/>
              <a:cs typeface="Arial"/>
              <a:sym typeface="Arial"/>
            </a:endParaRPr>
          </a:p>
        </p:txBody>
      </p:sp>
      <p:sp>
        <p:nvSpPr>
          <p:cNvPr id="281" name="Google Shape;281;p24"/>
          <p:cNvSpPr/>
          <p:nvPr/>
        </p:nvSpPr>
        <p:spPr>
          <a:xfrm>
            <a:off x="1150991" y="156788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24"/>
          <p:cNvSpPr/>
          <p:nvPr/>
        </p:nvSpPr>
        <p:spPr>
          <a:xfrm>
            <a:off x="1150991" y="167761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283" name="Google Shape;283;p24"/>
          <p:cNvSpPr/>
          <p:nvPr/>
        </p:nvSpPr>
        <p:spPr>
          <a:xfrm>
            <a:off x="1685929" y="156788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24"/>
          <p:cNvSpPr/>
          <p:nvPr/>
        </p:nvSpPr>
        <p:spPr>
          <a:xfrm>
            <a:off x="1685929" y="167761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4</a:t>
            </a:r>
            <a:endParaRPr b="0" i="0" sz="1100" u="none" cap="none" strike="noStrike">
              <a:solidFill>
                <a:schemeClr val="dk1"/>
              </a:solidFill>
              <a:latin typeface="Arial"/>
              <a:ea typeface="Arial"/>
              <a:cs typeface="Arial"/>
              <a:sym typeface="Arial"/>
            </a:endParaRPr>
          </a:p>
        </p:txBody>
      </p:sp>
      <p:sp>
        <p:nvSpPr>
          <p:cNvPr id="285" name="Google Shape;285;p24"/>
          <p:cNvSpPr/>
          <p:nvPr/>
        </p:nvSpPr>
        <p:spPr>
          <a:xfrm>
            <a:off x="2220867" y="156788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6" name="Google Shape;286;p24"/>
          <p:cNvSpPr/>
          <p:nvPr/>
        </p:nvSpPr>
        <p:spPr>
          <a:xfrm>
            <a:off x="2220867" y="167761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287" name="Google Shape;287;p24"/>
          <p:cNvSpPr/>
          <p:nvPr/>
        </p:nvSpPr>
        <p:spPr>
          <a:xfrm>
            <a:off x="2755805" y="1567885"/>
            <a:ext cx="432000" cy="397800"/>
          </a:xfrm>
          <a:prstGeom prst="roundRect">
            <a:avLst>
              <a:gd fmla="val 12069" name="adj"/>
            </a:avLst>
          </a:prstGeom>
          <a:solidFill>
            <a:srgbClr val="F1EAFF"/>
          </a:solidFill>
          <a:ln cap="flat" cmpd="sng" w="15225">
            <a:solidFill>
              <a:srgbClr val="7F52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8" name="Google Shape;288;p24"/>
          <p:cNvSpPr/>
          <p:nvPr/>
        </p:nvSpPr>
        <p:spPr>
          <a:xfrm>
            <a:off x="2755805" y="167761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52FF"/>
              </a:buClr>
              <a:buSzPts val="1100"/>
              <a:buFont typeface="Arial"/>
              <a:buNone/>
            </a:pPr>
            <a:r>
              <a:rPr b="1" i="0" lang="es" sz="1100" u="none" cap="none" strike="noStrike">
                <a:solidFill>
                  <a:srgbClr val="7F52FF"/>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cxnSp>
        <p:nvCxnSpPr>
          <p:cNvPr id="289" name="Google Shape;289;p24"/>
          <p:cNvCxnSpPr/>
          <p:nvPr/>
        </p:nvCxnSpPr>
        <p:spPr>
          <a:xfrm>
            <a:off x="2694082" y="1773625"/>
            <a:ext cx="870900" cy="0"/>
          </a:xfrm>
          <a:prstGeom prst="straightConnector1">
            <a:avLst/>
          </a:prstGeom>
          <a:noFill/>
          <a:ln cap="flat" cmpd="sng" w="30475">
            <a:solidFill>
              <a:srgbClr val="7F52FF"/>
            </a:solidFill>
            <a:prstDash val="solid"/>
            <a:round/>
            <a:headEnd len="sm" w="sm" type="none"/>
            <a:tailEnd len="med" w="med" type="triangle"/>
          </a:ln>
        </p:spPr>
      </p:cxnSp>
      <p:sp>
        <p:nvSpPr>
          <p:cNvPr id="290" name="Google Shape;290;p24"/>
          <p:cNvSpPr/>
          <p:nvPr/>
        </p:nvSpPr>
        <p:spPr>
          <a:xfrm>
            <a:off x="3839398" y="1245559"/>
            <a:ext cx="1303200" cy="857400"/>
          </a:xfrm>
          <a:prstGeom prst="roundRect">
            <a:avLst>
              <a:gd fmla="val 6400" name="adj"/>
            </a:avLst>
          </a:prstGeom>
          <a:solidFill>
            <a:srgbClr val="E8FFF4"/>
          </a:solidFill>
          <a:ln cap="flat" cmpd="sng" w="12700">
            <a:solidFill>
              <a:srgbClr val="B6EFD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1" name="Google Shape;291;p24"/>
          <p:cNvSpPr/>
          <p:nvPr/>
        </p:nvSpPr>
        <p:spPr>
          <a:xfrm>
            <a:off x="3976562" y="1382719"/>
            <a:ext cx="10287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B47E"/>
              </a:buClr>
              <a:buSzPts val="800"/>
              <a:buFont typeface="Arial"/>
              <a:buNone/>
            </a:pPr>
            <a:r>
              <a:rPr b="1" i="0" lang="es" sz="800" u="none" cap="none" strike="noStrike">
                <a:solidFill>
                  <a:srgbClr val="24B47E"/>
                </a:solidFill>
                <a:latin typeface="Arial"/>
                <a:ea typeface="Arial"/>
                <a:cs typeface="Arial"/>
                <a:sym typeface="Arial"/>
              </a:rPr>
              <a:t>Menores</a:t>
            </a:r>
            <a:endParaRPr b="0" i="0" sz="800" u="none" cap="none" strike="noStrike">
              <a:solidFill>
                <a:schemeClr val="dk1"/>
              </a:solidFill>
              <a:latin typeface="Arial"/>
              <a:ea typeface="Arial"/>
              <a:cs typeface="Arial"/>
              <a:sym typeface="Arial"/>
            </a:endParaRPr>
          </a:p>
        </p:txBody>
      </p:sp>
      <p:sp>
        <p:nvSpPr>
          <p:cNvPr id="292" name="Google Shape;292;p24"/>
          <p:cNvSpPr/>
          <p:nvPr/>
        </p:nvSpPr>
        <p:spPr>
          <a:xfrm>
            <a:off x="3976562" y="1657039"/>
            <a:ext cx="1028700" cy="1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400"/>
              <a:buFont typeface="Arial"/>
              <a:buNone/>
            </a:pPr>
            <a:r>
              <a:rPr b="1" i="0" lang="es" sz="1400" u="none" cap="none" strike="noStrike">
                <a:solidFill>
                  <a:srgbClr val="1F1B2E"/>
                </a:solidFill>
                <a:latin typeface="Arial"/>
                <a:ea typeface="Arial"/>
                <a:cs typeface="Arial"/>
                <a:sym typeface="Arial"/>
              </a:rPr>
              <a:t>[2, 1]</a:t>
            </a:r>
            <a:endParaRPr b="0" i="0" sz="1400" u="none" cap="none" strike="noStrike">
              <a:solidFill>
                <a:schemeClr val="dk1"/>
              </a:solidFill>
              <a:latin typeface="Arial"/>
              <a:ea typeface="Arial"/>
              <a:cs typeface="Arial"/>
              <a:sym typeface="Arial"/>
            </a:endParaRPr>
          </a:p>
        </p:txBody>
      </p:sp>
      <p:sp>
        <p:nvSpPr>
          <p:cNvPr id="293" name="Google Shape;293;p24"/>
          <p:cNvSpPr/>
          <p:nvPr/>
        </p:nvSpPr>
        <p:spPr>
          <a:xfrm>
            <a:off x="5313908" y="1245559"/>
            <a:ext cx="891600" cy="857400"/>
          </a:xfrm>
          <a:prstGeom prst="roundRect">
            <a:avLst>
              <a:gd fmla="val 6400" name="adj"/>
            </a:avLst>
          </a:prstGeom>
          <a:solidFill>
            <a:srgbClr val="F1EAFF"/>
          </a:solidFill>
          <a:ln cap="flat" cmpd="sng" w="12700">
            <a:solidFill>
              <a:srgbClr val="B78C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24"/>
          <p:cNvSpPr/>
          <p:nvPr/>
        </p:nvSpPr>
        <p:spPr>
          <a:xfrm>
            <a:off x="5451071" y="1382719"/>
            <a:ext cx="6171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52FF"/>
              </a:buClr>
              <a:buSzPts val="800"/>
              <a:buFont typeface="Arial"/>
              <a:buNone/>
            </a:pPr>
            <a:r>
              <a:rPr b="1" i="0" lang="es" sz="800" u="none" cap="none" strike="noStrike">
                <a:solidFill>
                  <a:srgbClr val="7F52FF"/>
                </a:solidFill>
                <a:latin typeface="Arial"/>
                <a:ea typeface="Arial"/>
                <a:cs typeface="Arial"/>
                <a:sym typeface="Arial"/>
              </a:rPr>
              <a:t>Pivote</a:t>
            </a:r>
            <a:endParaRPr b="0" i="0" sz="800" u="none" cap="none" strike="noStrike">
              <a:solidFill>
                <a:schemeClr val="dk1"/>
              </a:solidFill>
              <a:latin typeface="Arial"/>
              <a:ea typeface="Arial"/>
              <a:cs typeface="Arial"/>
              <a:sym typeface="Arial"/>
            </a:endParaRPr>
          </a:p>
        </p:txBody>
      </p:sp>
      <p:sp>
        <p:nvSpPr>
          <p:cNvPr id="295" name="Google Shape;295;p24"/>
          <p:cNvSpPr/>
          <p:nvPr/>
        </p:nvSpPr>
        <p:spPr>
          <a:xfrm>
            <a:off x="5451071" y="1657039"/>
            <a:ext cx="617100" cy="1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400"/>
              <a:buFont typeface="Arial"/>
              <a:buNone/>
            </a:pPr>
            <a:r>
              <a:rPr b="1" i="0" lang="es" sz="1400" u="none" cap="none" strike="noStrike">
                <a:solidFill>
                  <a:srgbClr val="1F1B2E"/>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296" name="Google Shape;296;p24"/>
          <p:cNvSpPr/>
          <p:nvPr/>
        </p:nvSpPr>
        <p:spPr>
          <a:xfrm>
            <a:off x="6376926" y="1245559"/>
            <a:ext cx="1303200" cy="857400"/>
          </a:xfrm>
          <a:prstGeom prst="roundRect">
            <a:avLst>
              <a:gd fmla="val 6400" name="adj"/>
            </a:avLst>
          </a:prstGeom>
          <a:solidFill>
            <a:srgbClr val="FFF6E6"/>
          </a:solidFill>
          <a:ln cap="flat" cmpd="sng" w="12700">
            <a:solidFill>
              <a:srgbClr val="FFD39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7" name="Google Shape;297;p24"/>
          <p:cNvSpPr/>
          <p:nvPr/>
        </p:nvSpPr>
        <p:spPr>
          <a:xfrm>
            <a:off x="6514090" y="1382719"/>
            <a:ext cx="10287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F1C"/>
              </a:buClr>
              <a:buSzPts val="800"/>
              <a:buFont typeface="Arial"/>
              <a:buNone/>
            </a:pPr>
            <a:r>
              <a:rPr b="1" i="0" lang="es" sz="800" u="none" cap="none" strike="noStrike">
                <a:solidFill>
                  <a:srgbClr val="FF9F1C"/>
                </a:solidFill>
                <a:latin typeface="Arial"/>
                <a:ea typeface="Arial"/>
                <a:cs typeface="Arial"/>
                <a:sym typeface="Arial"/>
              </a:rPr>
              <a:t>Mayores</a:t>
            </a:r>
            <a:endParaRPr b="0" i="0" sz="800" u="none" cap="none" strike="noStrike">
              <a:solidFill>
                <a:schemeClr val="dk1"/>
              </a:solidFill>
              <a:latin typeface="Arial"/>
              <a:ea typeface="Arial"/>
              <a:cs typeface="Arial"/>
              <a:sym typeface="Arial"/>
            </a:endParaRPr>
          </a:p>
        </p:txBody>
      </p:sp>
      <p:sp>
        <p:nvSpPr>
          <p:cNvPr id="298" name="Google Shape;298;p24"/>
          <p:cNvSpPr/>
          <p:nvPr/>
        </p:nvSpPr>
        <p:spPr>
          <a:xfrm>
            <a:off x="6514090" y="1657039"/>
            <a:ext cx="1028700" cy="1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400"/>
              <a:buFont typeface="Arial"/>
              <a:buNone/>
            </a:pPr>
            <a:r>
              <a:rPr b="1" i="0" lang="es" sz="1400" u="none" cap="none" strike="noStrike">
                <a:solidFill>
                  <a:srgbClr val="1F1B2E"/>
                </a:solidFill>
                <a:latin typeface="Arial"/>
                <a:ea typeface="Arial"/>
                <a:cs typeface="Arial"/>
                <a:sym typeface="Arial"/>
              </a:rPr>
              <a:t>[5, 4]</a:t>
            </a:r>
            <a:endParaRPr b="0" i="0" sz="1400" u="none" cap="none" strike="noStrike">
              <a:solidFill>
                <a:schemeClr val="dk1"/>
              </a:solidFill>
              <a:latin typeface="Arial"/>
              <a:ea typeface="Arial"/>
              <a:cs typeface="Arial"/>
              <a:sym typeface="Arial"/>
            </a:endParaRPr>
          </a:p>
        </p:txBody>
      </p:sp>
      <p:cxnSp>
        <p:nvCxnSpPr>
          <p:cNvPr id="299" name="Google Shape;299;p24"/>
          <p:cNvCxnSpPr/>
          <p:nvPr/>
        </p:nvCxnSpPr>
        <p:spPr>
          <a:xfrm>
            <a:off x="5759689" y="2287975"/>
            <a:ext cx="0" cy="514500"/>
          </a:xfrm>
          <a:prstGeom prst="straightConnector1">
            <a:avLst/>
          </a:prstGeom>
          <a:noFill/>
          <a:ln cap="flat" cmpd="sng" w="30475">
            <a:solidFill>
              <a:srgbClr val="7F52FF"/>
            </a:solidFill>
            <a:prstDash val="solid"/>
            <a:round/>
            <a:headEnd len="sm" w="sm" type="none"/>
            <a:tailEnd len="med" w="med" type="triangle"/>
          </a:ln>
        </p:spPr>
      </p:cxnSp>
      <p:sp>
        <p:nvSpPr>
          <p:cNvPr id="300" name="Google Shape;300;p24"/>
          <p:cNvSpPr/>
          <p:nvPr/>
        </p:nvSpPr>
        <p:spPr>
          <a:xfrm>
            <a:off x="4456635" y="297377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24"/>
          <p:cNvSpPr/>
          <p:nvPr/>
        </p:nvSpPr>
        <p:spPr>
          <a:xfrm>
            <a:off x="4456635" y="308350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302" name="Google Shape;302;p24"/>
          <p:cNvSpPr/>
          <p:nvPr/>
        </p:nvSpPr>
        <p:spPr>
          <a:xfrm>
            <a:off x="4991573" y="297377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3" name="Google Shape;303;p24"/>
          <p:cNvSpPr/>
          <p:nvPr/>
        </p:nvSpPr>
        <p:spPr>
          <a:xfrm>
            <a:off x="4991573" y="308350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304" name="Google Shape;304;p24"/>
          <p:cNvSpPr/>
          <p:nvPr/>
        </p:nvSpPr>
        <p:spPr>
          <a:xfrm>
            <a:off x="5526511" y="297377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5" name="Google Shape;305;p24"/>
          <p:cNvSpPr/>
          <p:nvPr/>
        </p:nvSpPr>
        <p:spPr>
          <a:xfrm>
            <a:off x="5526511" y="308350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sp>
        <p:nvSpPr>
          <p:cNvPr id="306" name="Google Shape;306;p24"/>
          <p:cNvSpPr/>
          <p:nvPr/>
        </p:nvSpPr>
        <p:spPr>
          <a:xfrm>
            <a:off x="6061450" y="297377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24"/>
          <p:cNvSpPr/>
          <p:nvPr/>
        </p:nvSpPr>
        <p:spPr>
          <a:xfrm>
            <a:off x="6061450" y="308350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4</a:t>
            </a:r>
            <a:endParaRPr b="0" i="0" sz="1100" u="none" cap="none" strike="noStrike">
              <a:solidFill>
                <a:schemeClr val="dk1"/>
              </a:solidFill>
              <a:latin typeface="Arial"/>
              <a:ea typeface="Arial"/>
              <a:cs typeface="Arial"/>
              <a:sym typeface="Arial"/>
            </a:endParaRPr>
          </a:p>
        </p:txBody>
      </p:sp>
      <p:sp>
        <p:nvSpPr>
          <p:cNvPr id="308" name="Google Shape;308;p24"/>
          <p:cNvSpPr/>
          <p:nvPr/>
        </p:nvSpPr>
        <p:spPr>
          <a:xfrm>
            <a:off x="6596388" y="2973775"/>
            <a:ext cx="432000" cy="397800"/>
          </a:xfrm>
          <a:prstGeom prst="roundRect">
            <a:avLst>
              <a:gd fmla="val 12069" name="adj"/>
            </a:avLst>
          </a:prstGeom>
          <a:solidFill>
            <a:srgbClr val="FFFFFF"/>
          </a:solidFill>
          <a:ln cap="flat" cmpd="sng" w="15225">
            <a:solidFill>
              <a:srgbClr val="D7CE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9" name="Google Shape;309;p24"/>
          <p:cNvSpPr/>
          <p:nvPr/>
        </p:nvSpPr>
        <p:spPr>
          <a:xfrm>
            <a:off x="6596388" y="3083503"/>
            <a:ext cx="432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1100"/>
              <a:buFont typeface="Arial"/>
              <a:buNone/>
            </a:pPr>
            <a:r>
              <a:rPr b="1" i="0" lang="es" sz="1100" u="none" cap="none" strike="noStrike">
                <a:solidFill>
                  <a:srgbClr val="1F1B2E"/>
                </a:solidFill>
                <a:latin typeface="Arial"/>
                <a:ea typeface="Arial"/>
                <a:cs typeface="Arial"/>
                <a:sym typeface="Arial"/>
              </a:rPr>
              <a:t>5</a:t>
            </a:r>
            <a:endParaRPr b="0" i="0" sz="1100" u="none" cap="none" strike="noStrike">
              <a:solidFill>
                <a:schemeClr val="dk1"/>
              </a:solidFill>
              <a:latin typeface="Arial"/>
              <a:ea typeface="Arial"/>
              <a:cs typeface="Arial"/>
              <a:sym typeface="Arial"/>
            </a:endParaRPr>
          </a:p>
        </p:txBody>
      </p:sp>
      <p:sp>
        <p:nvSpPr>
          <p:cNvPr id="310" name="Google Shape;310;p24"/>
          <p:cNvSpPr/>
          <p:nvPr/>
        </p:nvSpPr>
        <p:spPr>
          <a:xfrm>
            <a:off x="581761" y="3419545"/>
            <a:ext cx="7647000" cy="857400"/>
          </a:xfrm>
          <a:prstGeom prst="roundRect">
            <a:avLst>
              <a:gd fmla="val 9600" name="adj"/>
            </a:avLst>
          </a:prstGeom>
          <a:solidFill>
            <a:srgbClr val="17122B"/>
          </a:solidFill>
          <a:ln cap="flat" cmpd="sng" w="12700">
            <a:solidFill>
              <a:srgbClr val="171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1" name="Google Shape;311;p24"/>
          <p:cNvSpPr/>
          <p:nvPr/>
        </p:nvSpPr>
        <p:spPr>
          <a:xfrm>
            <a:off x="787507" y="3625285"/>
            <a:ext cx="12345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s" sz="1200" u="none" cap="none" strike="noStrike">
                <a:solidFill>
                  <a:srgbClr val="FFFFFF"/>
                </a:solidFill>
                <a:latin typeface="Arial"/>
                <a:ea typeface="Arial"/>
                <a:cs typeface="Arial"/>
                <a:sym typeface="Arial"/>
              </a:rPr>
              <a:t>Idea central</a:t>
            </a:r>
            <a:endParaRPr b="0" i="0" sz="1200" u="none" cap="none" strike="noStrike">
              <a:solidFill>
                <a:schemeClr val="dk1"/>
              </a:solidFill>
              <a:latin typeface="Arial"/>
              <a:ea typeface="Arial"/>
              <a:cs typeface="Arial"/>
              <a:sym typeface="Arial"/>
            </a:endParaRPr>
          </a:p>
        </p:txBody>
      </p:sp>
      <p:sp>
        <p:nvSpPr>
          <p:cNvPr id="312" name="Google Shape;312;p24"/>
          <p:cNvSpPr/>
          <p:nvPr/>
        </p:nvSpPr>
        <p:spPr>
          <a:xfrm>
            <a:off x="2021980" y="3604711"/>
            <a:ext cx="58296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EAFF"/>
              </a:buClr>
              <a:buSzPts val="1200"/>
              <a:buFont typeface="Arial"/>
              <a:buNone/>
            </a:pPr>
            <a:r>
              <a:rPr b="0" i="0" lang="es" sz="1200" u="none" cap="none" strike="noStrike">
                <a:solidFill>
                  <a:srgbClr val="EFEAFF"/>
                </a:solidFill>
                <a:latin typeface="Arial"/>
                <a:ea typeface="Arial"/>
                <a:cs typeface="Arial"/>
                <a:sym typeface="Arial"/>
              </a:rPr>
              <a:t>Elegir un pivote, separar menores y mayores, y repetir el proceso en cada sublista.</a:t>
            </a:r>
            <a:endParaRPr b="0" i="0" sz="1200" u="none" cap="none" strike="noStrike">
              <a:solidFill>
                <a:schemeClr val="dk1"/>
              </a:solidFill>
              <a:latin typeface="Arial"/>
              <a:ea typeface="Arial"/>
              <a:cs typeface="Arial"/>
              <a:sym typeface="Arial"/>
            </a:endParaRPr>
          </a:p>
        </p:txBody>
      </p:sp>
      <p:sp>
        <p:nvSpPr>
          <p:cNvPr id="313" name="Google Shape;313;p24"/>
          <p:cNvSpPr/>
          <p:nvPr/>
        </p:nvSpPr>
        <p:spPr>
          <a:xfrm>
            <a:off x="2021980" y="3899605"/>
            <a:ext cx="58296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FF"/>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51F"/>
        </a:solidFill>
      </p:bgPr>
    </p:bg>
    <p:spTree>
      <p:nvGrpSpPr>
        <p:cNvPr id="318" name="Shape 318"/>
        <p:cNvGrpSpPr/>
        <p:nvPr/>
      </p:nvGrpSpPr>
      <p:grpSpPr>
        <a:xfrm>
          <a:off x="0" y="0"/>
          <a:ext cx="0" cy="0"/>
          <a:chOff x="0" y="0"/>
          <a:chExt cx="0" cy="0"/>
        </a:xfrm>
      </p:grpSpPr>
      <p:sp>
        <p:nvSpPr>
          <p:cNvPr id="319" name="Google Shape;319;p25"/>
          <p:cNvSpPr/>
          <p:nvPr/>
        </p:nvSpPr>
        <p:spPr>
          <a:xfrm>
            <a:off x="377190" y="260604"/>
            <a:ext cx="836676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B"/>
              </a:buClr>
              <a:buSzPts val="1900"/>
              <a:buFont typeface="Play"/>
              <a:buNone/>
            </a:pPr>
            <a:r>
              <a:rPr b="1" lang="es" sz="1900">
                <a:solidFill>
                  <a:srgbClr val="F6F7FB"/>
                </a:solidFill>
                <a:latin typeface="Play"/>
                <a:ea typeface="Play"/>
                <a:cs typeface="Play"/>
                <a:sym typeface="Play"/>
              </a:rPr>
              <a:t>Comparación rapida</a:t>
            </a:r>
            <a:endParaRPr b="0" i="0" sz="1900" u="none" cap="none" strike="noStrike">
              <a:solidFill>
                <a:schemeClr val="dk1"/>
              </a:solidFill>
              <a:latin typeface="Arial"/>
              <a:ea typeface="Arial"/>
              <a:cs typeface="Arial"/>
              <a:sym typeface="Arial"/>
            </a:endParaRPr>
          </a:p>
        </p:txBody>
      </p:sp>
      <p:sp>
        <p:nvSpPr>
          <p:cNvPr id="320" name="Google Shape;320;p25"/>
          <p:cNvSpPr/>
          <p:nvPr/>
        </p:nvSpPr>
        <p:spPr>
          <a:xfrm>
            <a:off x="390906" y="603504"/>
            <a:ext cx="81610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BD8"/>
              </a:buClr>
              <a:buSzPts val="800"/>
              <a:buFont typeface="Arial"/>
              <a:buNone/>
            </a:pPr>
            <a:r>
              <a:rPr b="0" i="0" lang="es" sz="800" u="none" cap="none" strike="noStrike">
                <a:solidFill>
                  <a:srgbClr val="C7CBD8"/>
                </a:solidFill>
                <a:latin typeface="Arial"/>
                <a:ea typeface="Arial"/>
                <a:cs typeface="Arial"/>
                <a:sym typeface="Arial"/>
              </a:rPr>
              <a:t>Uno simple y uno más eficiente</a:t>
            </a:r>
            <a:endParaRPr b="0" i="0" sz="800" u="none" cap="none" strike="noStrike">
              <a:solidFill>
                <a:schemeClr val="dk1"/>
              </a:solidFill>
              <a:latin typeface="Arial"/>
              <a:ea typeface="Arial"/>
              <a:cs typeface="Arial"/>
              <a:sym typeface="Arial"/>
            </a:endParaRPr>
          </a:p>
        </p:txBody>
      </p:sp>
      <p:sp>
        <p:nvSpPr>
          <p:cNvPr id="321" name="Google Shape;321;p25"/>
          <p:cNvSpPr/>
          <p:nvPr/>
        </p:nvSpPr>
        <p:spPr>
          <a:xfrm>
            <a:off x="377190" y="4882896"/>
            <a:ext cx="2743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A8"/>
              </a:buClr>
              <a:buSzPts val="600"/>
              <a:buFont typeface="Arial"/>
              <a:buNone/>
            </a:pPr>
            <a:r>
              <a:rPr b="0" i="0" lang="es" sz="600" u="none" cap="none" strike="noStrike">
                <a:solidFill>
                  <a:srgbClr val="8E93A8"/>
                </a:solidFill>
                <a:latin typeface="Arial"/>
                <a:ea typeface="Arial"/>
                <a:cs typeface="Arial"/>
                <a:sym typeface="Arial"/>
              </a:rPr>
              <a:t>Grupo 15 · Kotlin vs VB.NET · 4</a:t>
            </a:r>
            <a:endParaRPr b="0" i="0" sz="600" u="none" cap="none" strike="noStrike">
              <a:solidFill>
                <a:schemeClr val="dk1"/>
              </a:solidFill>
              <a:latin typeface="Arial"/>
              <a:ea typeface="Arial"/>
              <a:cs typeface="Arial"/>
              <a:sym typeface="Arial"/>
            </a:endParaRPr>
          </a:p>
        </p:txBody>
      </p:sp>
      <p:sp>
        <p:nvSpPr>
          <p:cNvPr id="322" name="Google Shape;322;p25"/>
          <p:cNvSpPr/>
          <p:nvPr/>
        </p:nvSpPr>
        <p:spPr>
          <a:xfrm>
            <a:off x="548640" y="925830"/>
            <a:ext cx="37719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1B2"/>
              </a:buClr>
              <a:buSzPts val="1800"/>
              <a:buFont typeface="Arial"/>
              <a:buNone/>
            </a:pPr>
            <a:r>
              <a:rPr b="1" i="0" lang="es" sz="1800" u="none" cap="none" strike="noStrike">
                <a:solidFill>
                  <a:srgbClr val="00D1B2"/>
                </a:solidFill>
                <a:latin typeface="Arial"/>
                <a:ea typeface="Arial"/>
                <a:cs typeface="Arial"/>
                <a:sym typeface="Arial"/>
              </a:rPr>
              <a:t>Bubble Sort</a:t>
            </a:r>
            <a:endParaRPr b="0" i="0" sz="1800" u="none" cap="none" strike="noStrike">
              <a:solidFill>
                <a:schemeClr val="dk1"/>
              </a:solidFill>
              <a:latin typeface="Arial"/>
              <a:ea typeface="Arial"/>
              <a:cs typeface="Arial"/>
              <a:sym typeface="Arial"/>
            </a:endParaRPr>
          </a:p>
        </p:txBody>
      </p:sp>
      <p:sp>
        <p:nvSpPr>
          <p:cNvPr id="323" name="Google Shape;323;p25"/>
          <p:cNvSpPr/>
          <p:nvPr/>
        </p:nvSpPr>
        <p:spPr>
          <a:xfrm>
            <a:off x="582930" y="1337310"/>
            <a:ext cx="3703320" cy="2263140"/>
          </a:xfrm>
          <a:prstGeom prst="rect">
            <a:avLst/>
          </a:prstGeom>
          <a:noFill/>
          <a:ln>
            <a:noFill/>
          </a:ln>
        </p:spPr>
        <p:txBody>
          <a:bodyPr anchorCtr="0" anchor="ctr" bIns="34275" lIns="68575" spcFirstLastPara="1" rIns="68575" wrap="square" tIns="34275">
            <a:noAutofit/>
          </a:bodyPr>
          <a:lstStyle/>
          <a:p>
            <a:pPr indent="-139700" lvl="0" marL="139700" marR="0" rtl="0" algn="l">
              <a:spcBef>
                <a:spcPts val="0"/>
              </a:spcBef>
              <a:spcAft>
                <a:spcPts val="0"/>
              </a:spcAft>
              <a:buClr>
                <a:srgbClr val="F6F7FB"/>
              </a:buClr>
              <a:buSzPts val="1200"/>
              <a:buFont typeface="Arial"/>
              <a:buChar char="•"/>
            </a:pPr>
            <a:r>
              <a:rPr b="0" i="0" lang="es" sz="1200" u="none" cap="none" strike="noStrike">
                <a:solidFill>
                  <a:srgbClr val="F6F7FB"/>
                </a:solidFill>
                <a:latin typeface="Arial"/>
                <a:ea typeface="Arial"/>
                <a:cs typeface="Arial"/>
                <a:sym typeface="Arial"/>
              </a:rPr>
              <a:t>Compara elementos vecinos.</a:t>
            </a:r>
            <a:endParaRPr b="0" i="0" sz="12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200"/>
              <a:buFont typeface="Arial"/>
              <a:buChar char="•"/>
            </a:pPr>
            <a:r>
              <a:rPr b="0" i="0" lang="es" sz="1200" u="none" cap="none" strike="noStrike">
                <a:solidFill>
                  <a:srgbClr val="F6F7FB"/>
                </a:solidFill>
                <a:latin typeface="Arial"/>
                <a:ea typeface="Arial"/>
                <a:cs typeface="Arial"/>
                <a:sym typeface="Arial"/>
              </a:rPr>
              <a:t>Intercambia si están desordenados.</a:t>
            </a:r>
            <a:endParaRPr b="0" i="0" sz="12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200"/>
              <a:buFont typeface="Arial"/>
              <a:buChar char="•"/>
            </a:pPr>
            <a:r>
              <a:rPr b="0" i="0" lang="es" sz="1200" u="none" cap="none" strike="noStrike">
                <a:solidFill>
                  <a:srgbClr val="F6F7FB"/>
                </a:solidFill>
                <a:latin typeface="Arial"/>
                <a:ea typeface="Arial"/>
                <a:cs typeface="Arial"/>
                <a:sym typeface="Arial"/>
              </a:rPr>
              <a:t>Es fácil de entender.</a:t>
            </a:r>
            <a:endParaRPr b="0" i="0" sz="12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200"/>
              <a:buFont typeface="Arial"/>
              <a:buChar char="•"/>
            </a:pPr>
            <a:r>
              <a:rPr b="0" i="0" lang="es" sz="1200" u="none" cap="none" strike="noStrike">
                <a:solidFill>
                  <a:srgbClr val="F6F7FB"/>
                </a:solidFill>
                <a:latin typeface="Arial"/>
                <a:ea typeface="Arial"/>
                <a:cs typeface="Arial"/>
                <a:sym typeface="Arial"/>
              </a:rPr>
              <a:t>Crece rápido al aumentar los datos.</a:t>
            </a:r>
            <a:endParaRPr b="0" i="0" sz="12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200"/>
              <a:buFont typeface="Arial"/>
              <a:buChar char="•"/>
            </a:pPr>
            <a:r>
              <a:rPr lang="es" sz="1200">
                <a:solidFill>
                  <a:srgbClr val="F6F7FB"/>
                </a:solidFill>
              </a:rPr>
              <a:t>Es simple, pero se vuelve lento con muchos datos.</a:t>
            </a:r>
            <a:endParaRPr b="0" i="0" sz="1200" u="none" cap="none" strike="noStrike">
              <a:solidFill>
                <a:schemeClr val="dk1"/>
              </a:solidFill>
              <a:latin typeface="Arial"/>
              <a:ea typeface="Arial"/>
              <a:cs typeface="Arial"/>
              <a:sym typeface="Arial"/>
            </a:endParaRPr>
          </a:p>
        </p:txBody>
      </p:sp>
      <p:sp>
        <p:nvSpPr>
          <p:cNvPr id="324" name="Google Shape;324;p25"/>
          <p:cNvSpPr/>
          <p:nvPr/>
        </p:nvSpPr>
        <p:spPr>
          <a:xfrm>
            <a:off x="4834890" y="925830"/>
            <a:ext cx="37719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000"/>
              </a:buClr>
              <a:buSzPts val="1800"/>
              <a:buFont typeface="Arial"/>
              <a:buNone/>
            </a:pPr>
            <a:r>
              <a:rPr b="1" i="0" lang="es" sz="1800" u="none" cap="none" strike="noStrike">
                <a:solidFill>
                  <a:srgbClr val="FFB000"/>
                </a:solidFill>
                <a:latin typeface="Arial"/>
                <a:ea typeface="Arial"/>
                <a:cs typeface="Arial"/>
                <a:sym typeface="Arial"/>
              </a:rPr>
              <a:t>Quick Sort</a:t>
            </a:r>
            <a:endParaRPr b="0" i="0" sz="1800" u="none" cap="none" strike="noStrike">
              <a:solidFill>
                <a:schemeClr val="dk1"/>
              </a:solidFill>
              <a:latin typeface="Arial"/>
              <a:ea typeface="Arial"/>
              <a:cs typeface="Arial"/>
              <a:sym typeface="Arial"/>
            </a:endParaRPr>
          </a:p>
        </p:txBody>
      </p:sp>
      <p:sp>
        <p:nvSpPr>
          <p:cNvPr id="325" name="Google Shape;325;p25"/>
          <p:cNvSpPr/>
          <p:nvPr/>
        </p:nvSpPr>
        <p:spPr>
          <a:xfrm>
            <a:off x="4869180" y="1337310"/>
            <a:ext cx="3703320" cy="2263140"/>
          </a:xfrm>
          <a:prstGeom prst="rect">
            <a:avLst/>
          </a:prstGeom>
          <a:noFill/>
          <a:ln>
            <a:noFill/>
          </a:ln>
        </p:spPr>
        <p:txBody>
          <a:bodyPr anchorCtr="0" anchor="ctr" bIns="34275" lIns="68575" spcFirstLastPara="1" rIns="68575" wrap="square" tIns="34275">
            <a:noAutofit/>
          </a:bodyPr>
          <a:lstStyle/>
          <a:p>
            <a:pPr indent="-139700" lvl="0" marL="139700" marR="0" rtl="0" algn="l">
              <a:spcBef>
                <a:spcPts val="0"/>
              </a:spcBef>
              <a:spcAft>
                <a:spcPts val="0"/>
              </a:spcAft>
              <a:buClr>
                <a:srgbClr val="F6F7FB"/>
              </a:buClr>
              <a:buSzPts val="1200"/>
              <a:buFont typeface="Arial"/>
              <a:buChar char="•"/>
            </a:pPr>
            <a:r>
              <a:rPr b="0" i="0" lang="es" sz="1200" u="none" cap="none" strike="noStrike">
                <a:solidFill>
                  <a:srgbClr val="F6F7FB"/>
                </a:solidFill>
                <a:latin typeface="Arial"/>
                <a:ea typeface="Arial"/>
                <a:cs typeface="Arial"/>
                <a:sym typeface="Arial"/>
              </a:rPr>
              <a:t>Usa divide y vencerás.</a:t>
            </a:r>
            <a:endParaRPr b="0" i="0" sz="12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200"/>
              <a:buFont typeface="Arial"/>
              <a:buChar char="•"/>
            </a:pPr>
            <a:r>
              <a:rPr b="0" i="0" lang="es" sz="1200" u="none" cap="none" strike="noStrike">
                <a:solidFill>
                  <a:srgbClr val="F6F7FB"/>
                </a:solidFill>
                <a:latin typeface="Arial"/>
                <a:ea typeface="Arial"/>
                <a:cs typeface="Arial"/>
                <a:sym typeface="Arial"/>
              </a:rPr>
              <a:t>Elige un pivote.</a:t>
            </a:r>
            <a:endParaRPr b="0" i="0" sz="12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200"/>
              <a:buFont typeface="Arial"/>
              <a:buChar char="•"/>
            </a:pPr>
            <a:r>
              <a:rPr b="0" i="0" lang="es" sz="1200" u="none" cap="none" strike="noStrike">
                <a:solidFill>
                  <a:srgbClr val="F6F7FB"/>
                </a:solidFill>
                <a:latin typeface="Arial"/>
                <a:ea typeface="Arial"/>
                <a:cs typeface="Arial"/>
                <a:sym typeface="Arial"/>
              </a:rPr>
              <a:t>Separa menores y mayores.</a:t>
            </a:r>
            <a:endParaRPr b="0" i="0" sz="12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200"/>
              <a:buFont typeface="Arial"/>
              <a:buChar char="•"/>
            </a:pPr>
            <a:r>
              <a:rPr b="0" i="0" lang="es" sz="1200" u="none" cap="none" strike="noStrike">
                <a:solidFill>
                  <a:srgbClr val="F6F7FB"/>
                </a:solidFill>
                <a:latin typeface="Arial"/>
                <a:ea typeface="Arial"/>
                <a:cs typeface="Arial"/>
                <a:sym typeface="Arial"/>
              </a:rPr>
              <a:t>Ordena recursivamente las partes.</a:t>
            </a:r>
            <a:endParaRPr b="0" i="0" sz="12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200"/>
              <a:buFont typeface="Arial"/>
              <a:buChar char="•"/>
            </a:pPr>
            <a:r>
              <a:rPr lang="es" sz="1200">
                <a:solidFill>
                  <a:srgbClr val="F6F7FB"/>
                </a:solidFill>
              </a:rPr>
              <a:t>Escala mejor con arreglos grandes.</a:t>
            </a:r>
            <a:endParaRPr b="0" i="0" sz="1200" u="none" cap="none" strike="noStrike">
              <a:solidFill>
                <a:schemeClr val="dk1"/>
              </a:solidFill>
              <a:latin typeface="Arial"/>
              <a:ea typeface="Arial"/>
              <a:cs typeface="Arial"/>
              <a:sym typeface="Arial"/>
            </a:endParaRPr>
          </a:p>
        </p:txBody>
      </p:sp>
      <p:cxnSp>
        <p:nvCxnSpPr>
          <p:cNvPr id="326" name="Google Shape;326;p25"/>
          <p:cNvCxnSpPr/>
          <p:nvPr/>
        </p:nvCxnSpPr>
        <p:spPr>
          <a:xfrm>
            <a:off x="4567428" y="891540"/>
            <a:ext cx="0" cy="3120390"/>
          </a:xfrm>
          <a:prstGeom prst="straightConnector1">
            <a:avLst/>
          </a:prstGeom>
          <a:noFill/>
          <a:ln cap="flat" cmpd="sng" w="19050">
            <a:solidFill>
              <a:srgbClr val="3C3F58"/>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51F"/>
        </a:solidFill>
      </p:bgPr>
    </p:bg>
    <p:spTree>
      <p:nvGrpSpPr>
        <p:cNvPr id="331" name="Shape 331"/>
        <p:cNvGrpSpPr/>
        <p:nvPr/>
      </p:nvGrpSpPr>
      <p:grpSpPr>
        <a:xfrm>
          <a:off x="0" y="0"/>
          <a:ext cx="0" cy="0"/>
          <a:chOff x="0" y="0"/>
          <a:chExt cx="0" cy="0"/>
        </a:xfrm>
      </p:grpSpPr>
      <p:sp>
        <p:nvSpPr>
          <p:cNvPr id="332" name="Google Shape;332;p26"/>
          <p:cNvSpPr/>
          <p:nvPr/>
        </p:nvSpPr>
        <p:spPr>
          <a:xfrm>
            <a:off x="377190" y="260604"/>
            <a:ext cx="836676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B"/>
              </a:buClr>
              <a:buSzPts val="1900"/>
              <a:buFont typeface="Play"/>
              <a:buNone/>
            </a:pPr>
            <a:r>
              <a:rPr b="1" i="0" lang="es" sz="1900" u="none" cap="none" strike="noStrike">
                <a:solidFill>
                  <a:srgbClr val="F6F7FB"/>
                </a:solidFill>
                <a:latin typeface="Play"/>
                <a:ea typeface="Play"/>
                <a:cs typeface="Play"/>
                <a:sym typeface="Play"/>
              </a:rPr>
              <a:t>Objetivo del trabajo</a:t>
            </a:r>
            <a:endParaRPr b="0" i="0" sz="1900" u="none" cap="none" strike="noStrike">
              <a:solidFill>
                <a:schemeClr val="dk1"/>
              </a:solidFill>
              <a:latin typeface="Arial"/>
              <a:ea typeface="Arial"/>
              <a:cs typeface="Arial"/>
              <a:sym typeface="Arial"/>
            </a:endParaRPr>
          </a:p>
        </p:txBody>
      </p:sp>
      <p:sp>
        <p:nvSpPr>
          <p:cNvPr id="333" name="Google Shape;333;p26"/>
          <p:cNvSpPr/>
          <p:nvPr/>
        </p:nvSpPr>
        <p:spPr>
          <a:xfrm>
            <a:off x="390906" y="603504"/>
            <a:ext cx="8160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BD8"/>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334" name="Google Shape;334;p26"/>
          <p:cNvSpPr/>
          <p:nvPr/>
        </p:nvSpPr>
        <p:spPr>
          <a:xfrm>
            <a:off x="377190" y="4882896"/>
            <a:ext cx="2743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A8"/>
              </a:buClr>
              <a:buSzPts val="600"/>
              <a:buFont typeface="Arial"/>
              <a:buNone/>
            </a:pPr>
            <a:r>
              <a:rPr b="0" i="0" lang="es" sz="600" u="none" cap="none" strike="noStrike">
                <a:solidFill>
                  <a:srgbClr val="8E93A8"/>
                </a:solidFill>
                <a:latin typeface="Arial"/>
                <a:ea typeface="Arial"/>
                <a:cs typeface="Arial"/>
                <a:sym typeface="Arial"/>
              </a:rPr>
              <a:t>Grupo 15 · Kotlin vs VB.NET · 2</a:t>
            </a:r>
            <a:endParaRPr b="0" i="0" sz="600" u="none" cap="none" strike="noStrike">
              <a:solidFill>
                <a:schemeClr val="dk1"/>
              </a:solidFill>
              <a:latin typeface="Arial"/>
              <a:ea typeface="Arial"/>
              <a:cs typeface="Arial"/>
              <a:sym typeface="Arial"/>
            </a:endParaRPr>
          </a:p>
        </p:txBody>
      </p:sp>
      <p:sp>
        <p:nvSpPr>
          <p:cNvPr id="335" name="Google Shape;335;p26"/>
          <p:cNvSpPr/>
          <p:nvPr/>
        </p:nvSpPr>
        <p:spPr>
          <a:xfrm>
            <a:off x="480060" y="925830"/>
            <a:ext cx="137160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1B2"/>
              </a:buClr>
              <a:buSzPts val="800"/>
              <a:buFont typeface="Arial"/>
              <a:buNone/>
            </a:pPr>
            <a:r>
              <a:rPr b="1" i="0" lang="es" sz="1000" u="none" cap="none" strike="noStrike">
                <a:solidFill>
                  <a:srgbClr val="00D1B2"/>
                </a:solidFill>
                <a:latin typeface="Arial"/>
                <a:ea typeface="Arial"/>
                <a:cs typeface="Arial"/>
                <a:sym typeface="Arial"/>
              </a:rPr>
              <a:t>OBJETIVO</a:t>
            </a:r>
            <a:endParaRPr b="0" i="0" sz="1000" u="none" cap="none" strike="noStrike">
              <a:solidFill>
                <a:schemeClr val="dk1"/>
              </a:solidFill>
              <a:latin typeface="Arial"/>
              <a:ea typeface="Arial"/>
              <a:cs typeface="Arial"/>
              <a:sym typeface="Arial"/>
            </a:endParaRPr>
          </a:p>
        </p:txBody>
      </p:sp>
      <p:sp>
        <p:nvSpPr>
          <p:cNvPr id="336" name="Google Shape;336;p26"/>
          <p:cNvSpPr/>
          <p:nvPr/>
        </p:nvSpPr>
        <p:spPr>
          <a:xfrm>
            <a:off x="514350" y="1200150"/>
            <a:ext cx="4114800" cy="2606040"/>
          </a:xfrm>
          <a:prstGeom prst="rect">
            <a:avLst/>
          </a:prstGeom>
          <a:noFill/>
          <a:ln>
            <a:noFill/>
          </a:ln>
        </p:spPr>
        <p:txBody>
          <a:bodyPr anchorCtr="0" anchor="ctr" bIns="34275" lIns="68575" spcFirstLastPara="1" rIns="68575" wrap="square" tIns="34275">
            <a:noAutofit/>
          </a:bodyPr>
          <a:lstStyle/>
          <a:p>
            <a:pPr indent="-139700" lvl="0" marL="139700" marR="0" rtl="0" algn="l">
              <a:spcBef>
                <a:spcPts val="0"/>
              </a:spcBef>
              <a:spcAft>
                <a:spcPts val="0"/>
              </a:spcAft>
              <a:buClr>
                <a:srgbClr val="F6F7FB"/>
              </a:buClr>
              <a:buSzPts val="1400"/>
              <a:buFont typeface="Arial"/>
              <a:buChar char="•"/>
            </a:pPr>
            <a:r>
              <a:rPr b="0" i="0" lang="es" sz="1400" u="none" cap="none" strike="noStrike">
                <a:solidFill>
                  <a:srgbClr val="F6F7FB"/>
                </a:solidFill>
                <a:latin typeface="Arial"/>
                <a:ea typeface="Arial"/>
                <a:cs typeface="Arial"/>
                <a:sym typeface="Arial"/>
              </a:rPr>
              <a:t>Implementar Bubble Sort y Quick Sort en Kotlin y VB.NET.</a:t>
            </a:r>
            <a:endParaRPr b="0" i="0" sz="14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t/>
            </a:r>
            <a:endParaRPr>
              <a:solidFill>
                <a:srgbClr val="F6F7FB"/>
              </a:solidFill>
            </a:endParaRPr>
          </a:p>
          <a:p>
            <a:pPr indent="-139700" lvl="0" marL="139700" marR="0" rtl="0" algn="l">
              <a:spcBef>
                <a:spcPts val="0"/>
              </a:spcBef>
              <a:spcAft>
                <a:spcPts val="0"/>
              </a:spcAft>
              <a:buClr>
                <a:srgbClr val="F6F7FB"/>
              </a:buClr>
              <a:buSzPts val="1400"/>
              <a:buFont typeface="Arial"/>
              <a:buChar char="•"/>
            </a:pPr>
            <a:r>
              <a:rPr b="0" i="0" lang="es" sz="1400" u="none" cap="none" strike="noStrike">
                <a:solidFill>
                  <a:srgbClr val="F6F7FB"/>
                </a:solidFill>
                <a:latin typeface="Arial"/>
                <a:ea typeface="Arial"/>
                <a:cs typeface="Arial"/>
                <a:sym typeface="Arial"/>
              </a:rPr>
              <a:t>Medir el tiempo de ejecución en ambos lenguajes</a:t>
            </a:r>
            <a:endParaRPr b="0" i="0" sz="14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rPr b="0" i="0" lang="es" sz="1400" u="none" cap="none" strike="noStrike">
                <a:solidFill>
                  <a:srgbClr val="F6F7FB"/>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139700" lvl="0" marL="139700" marR="0" rtl="0" algn="l">
              <a:spcBef>
                <a:spcPts val="0"/>
              </a:spcBef>
              <a:spcAft>
                <a:spcPts val="0"/>
              </a:spcAft>
              <a:buClr>
                <a:srgbClr val="F6F7FB"/>
              </a:buClr>
              <a:buSzPts val="1400"/>
              <a:buFont typeface="Arial"/>
              <a:buChar char="•"/>
            </a:pPr>
            <a:r>
              <a:rPr b="0" i="0" lang="es" sz="1400" u="none" cap="none" strike="noStrike">
                <a:solidFill>
                  <a:srgbClr val="F6F7FB"/>
                </a:solidFill>
                <a:latin typeface="Arial"/>
                <a:ea typeface="Arial"/>
                <a:cs typeface="Arial"/>
                <a:sym typeface="Arial"/>
              </a:rPr>
              <a:t>Comparar resultados y justificar diferencias.</a:t>
            </a:r>
            <a:endParaRPr b="0" i="0" sz="1400" u="none" cap="none" strike="noStrike">
              <a:solidFill>
                <a:schemeClr val="dk1"/>
              </a:solidFill>
              <a:latin typeface="Arial"/>
              <a:ea typeface="Arial"/>
              <a:cs typeface="Arial"/>
              <a:sym typeface="Arial"/>
            </a:endParaRPr>
          </a:p>
          <a:p>
            <a:pPr indent="0" lvl="0" marL="457200" marR="0" rtl="0" algn="l">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37" name="Google Shape;337;p26"/>
          <p:cNvSpPr/>
          <p:nvPr/>
        </p:nvSpPr>
        <p:spPr>
          <a:xfrm>
            <a:off x="5098255" y="1388740"/>
            <a:ext cx="3326100" cy="2229000"/>
          </a:xfrm>
          <a:prstGeom prst="roundRect">
            <a:avLst>
              <a:gd fmla="val 3692" name="adj"/>
            </a:avLst>
          </a:prstGeom>
          <a:solidFill>
            <a:srgbClr val="1F2030"/>
          </a:solidFill>
          <a:ln cap="flat" cmpd="sng" w="12700">
            <a:solidFill>
              <a:srgbClr val="3C3F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8" name="Google Shape;338;p26"/>
          <p:cNvSpPr/>
          <p:nvPr/>
        </p:nvSpPr>
        <p:spPr>
          <a:xfrm>
            <a:off x="5338285" y="1628770"/>
            <a:ext cx="29490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B"/>
              </a:buClr>
              <a:buSzPts val="1500"/>
              <a:buFont typeface="Arial"/>
              <a:buNone/>
            </a:pPr>
            <a:r>
              <a:rPr b="1" i="0" lang="es" sz="1500" u="none" cap="none" strike="noStrike">
                <a:solidFill>
                  <a:srgbClr val="F6F7FB"/>
                </a:solidFill>
                <a:latin typeface="Arial"/>
                <a:ea typeface="Arial"/>
                <a:cs typeface="Arial"/>
                <a:sym typeface="Arial"/>
              </a:rPr>
              <a:t>Consigna aplicada</a:t>
            </a:r>
            <a:endParaRPr b="0" i="0" sz="1500" u="none" cap="none" strike="noStrike">
              <a:solidFill>
                <a:schemeClr val="dk1"/>
              </a:solidFill>
              <a:latin typeface="Arial"/>
              <a:ea typeface="Arial"/>
              <a:cs typeface="Arial"/>
              <a:sym typeface="Arial"/>
            </a:endParaRPr>
          </a:p>
        </p:txBody>
      </p:sp>
      <p:sp>
        <p:nvSpPr>
          <p:cNvPr id="339" name="Google Shape;339;p26"/>
          <p:cNvSpPr/>
          <p:nvPr/>
        </p:nvSpPr>
        <p:spPr>
          <a:xfrm>
            <a:off x="5338285" y="2005960"/>
            <a:ext cx="2880300" cy="994500"/>
          </a:xfrm>
          <a:prstGeom prst="rect">
            <a:avLst/>
          </a:prstGeom>
          <a:noFill/>
          <a:ln>
            <a:noFill/>
          </a:ln>
        </p:spPr>
        <p:txBody>
          <a:bodyPr anchorCtr="0" anchor="ctr" bIns="475" lIns="475" spcFirstLastPara="1" rIns="475" wrap="square" tIns="475">
            <a:noAutofit/>
          </a:bodyPr>
          <a:lstStyle/>
          <a:p>
            <a:pPr indent="0" lvl="0" marL="0" marR="0" rtl="0" algn="l">
              <a:spcBef>
                <a:spcPts val="0"/>
              </a:spcBef>
              <a:spcAft>
                <a:spcPts val="0"/>
              </a:spcAft>
              <a:buClr>
                <a:srgbClr val="C7CBD8"/>
              </a:buClr>
              <a:buSzPts val="1200"/>
              <a:buFont typeface="Arial"/>
              <a:buNone/>
            </a:pPr>
            <a:r>
              <a:rPr b="0" i="0" lang="es" sz="1200" u="none" cap="none" strike="noStrike">
                <a:solidFill>
                  <a:srgbClr val="C7CBD8"/>
                </a:solidFill>
                <a:latin typeface="Arial"/>
                <a:ea typeface="Arial"/>
                <a:cs typeface="Arial"/>
                <a:sym typeface="Arial"/>
              </a:rPr>
              <a:t>Tema 2: benchmark de dos algoritmos entre dos lenguajes, con mediciones reales y una explicación del rendimiento.</a:t>
            </a:r>
            <a:endParaRPr b="0" i="0" sz="1200" u="none" cap="none" strike="noStrike">
              <a:solidFill>
                <a:schemeClr val="dk1"/>
              </a:solidFill>
              <a:latin typeface="Arial"/>
              <a:ea typeface="Arial"/>
              <a:cs typeface="Arial"/>
              <a:sym typeface="Arial"/>
            </a:endParaRPr>
          </a:p>
        </p:txBody>
      </p:sp>
      <p:sp>
        <p:nvSpPr>
          <p:cNvPr id="340" name="Google Shape;340;p26"/>
          <p:cNvSpPr/>
          <p:nvPr/>
        </p:nvSpPr>
        <p:spPr>
          <a:xfrm>
            <a:off x="5338285" y="3137530"/>
            <a:ext cx="288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1B2"/>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51F"/>
        </a:solidFill>
      </p:bgPr>
    </p:bg>
    <p:spTree>
      <p:nvGrpSpPr>
        <p:cNvPr id="345" name="Shape 345"/>
        <p:cNvGrpSpPr/>
        <p:nvPr/>
      </p:nvGrpSpPr>
      <p:grpSpPr>
        <a:xfrm>
          <a:off x="0" y="0"/>
          <a:ext cx="0" cy="0"/>
          <a:chOff x="0" y="0"/>
          <a:chExt cx="0" cy="0"/>
        </a:xfrm>
      </p:grpSpPr>
      <p:sp>
        <p:nvSpPr>
          <p:cNvPr id="346" name="Google Shape;346;p27"/>
          <p:cNvSpPr/>
          <p:nvPr/>
        </p:nvSpPr>
        <p:spPr>
          <a:xfrm>
            <a:off x="377190" y="260604"/>
            <a:ext cx="836676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B"/>
              </a:buClr>
              <a:buSzPts val="1900"/>
              <a:buFont typeface="Play"/>
              <a:buNone/>
            </a:pPr>
            <a:r>
              <a:rPr b="1" i="0" lang="es" sz="1900" u="none" cap="none" strike="noStrike">
                <a:solidFill>
                  <a:srgbClr val="F6F7FB"/>
                </a:solidFill>
                <a:latin typeface="Play"/>
                <a:ea typeface="Play"/>
                <a:cs typeface="Play"/>
                <a:sym typeface="Play"/>
              </a:rPr>
              <a:t>Metodología del benchmark</a:t>
            </a:r>
            <a:endParaRPr b="0" i="0" sz="1900" u="none" cap="none" strike="noStrike">
              <a:solidFill>
                <a:schemeClr val="dk1"/>
              </a:solidFill>
              <a:latin typeface="Arial"/>
              <a:ea typeface="Arial"/>
              <a:cs typeface="Arial"/>
              <a:sym typeface="Arial"/>
            </a:endParaRPr>
          </a:p>
        </p:txBody>
      </p:sp>
      <p:sp>
        <p:nvSpPr>
          <p:cNvPr id="347" name="Google Shape;347;p27"/>
          <p:cNvSpPr/>
          <p:nvPr/>
        </p:nvSpPr>
        <p:spPr>
          <a:xfrm>
            <a:off x="390906" y="603504"/>
            <a:ext cx="81610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BD8"/>
              </a:buClr>
              <a:buSzPts val="800"/>
              <a:buFont typeface="Arial"/>
              <a:buNone/>
            </a:pPr>
            <a:r>
              <a:rPr b="0" i="0" lang="es" sz="800" u="none" cap="none" strike="noStrike">
                <a:solidFill>
                  <a:srgbClr val="C7CBD8"/>
                </a:solidFill>
                <a:latin typeface="Arial"/>
                <a:ea typeface="Arial"/>
                <a:cs typeface="Arial"/>
                <a:sym typeface="Arial"/>
              </a:rPr>
              <a:t>Cómo medimos</a:t>
            </a:r>
            <a:endParaRPr b="0" i="0" sz="800" u="none" cap="none" strike="noStrike">
              <a:solidFill>
                <a:schemeClr val="dk1"/>
              </a:solidFill>
              <a:latin typeface="Arial"/>
              <a:ea typeface="Arial"/>
              <a:cs typeface="Arial"/>
              <a:sym typeface="Arial"/>
            </a:endParaRPr>
          </a:p>
        </p:txBody>
      </p:sp>
      <p:sp>
        <p:nvSpPr>
          <p:cNvPr id="348" name="Google Shape;348;p27"/>
          <p:cNvSpPr/>
          <p:nvPr/>
        </p:nvSpPr>
        <p:spPr>
          <a:xfrm>
            <a:off x="377190" y="4882896"/>
            <a:ext cx="2743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A8"/>
              </a:buClr>
              <a:buSzPts val="600"/>
              <a:buFont typeface="Arial"/>
              <a:buNone/>
            </a:pPr>
            <a:r>
              <a:rPr b="0" i="0" lang="es" sz="600" u="none" cap="none" strike="noStrike">
                <a:solidFill>
                  <a:srgbClr val="8E93A8"/>
                </a:solidFill>
                <a:latin typeface="Arial"/>
                <a:ea typeface="Arial"/>
                <a:cs typeface="Arial"/>
                <a:sym typeface="Arial"/>
              </a:rPr>
              <a:t>Grupo 15 · Kotlin vs VB.NET · 5</a:t>
            </a:r>
            <a:endParaRPr b="0" i="0" sz="600" u="none" cap="none" strike="noStrike">
              <a:solidFill>
                <a:schemeClr val="dk1"/>
              </a:solidFill>
              <a:latin typeface="Arial"/>
              <a:ea typeface="Arial"/>
              <a:cs typeface="Arial"/>
              <a:sym typeface="Arial"/>
            </a:endParaRPr>
          </a:p>
        </p:txBody>
      </p:sp>
      <p:sp>
        <p:nvSpPr>
          <p:cNvPr id="349" name="Google Shape;349;p27"/>
          <p:cNvSpPr/>
          <p:nvPr/>
        </p:nvSpPr>
        <p:spPr>
          <a:xfrm>
            <a:off x="377200" y="943825"/>
            <a:ext cx="7500900" cy="2976000"/>
          </a:xfrm>
          <a:prstGeom prst="rect">
            <a:avLst/>
          </a:prstGeom>
          <a:noFill/>
          <a:ln>
            <a:noFill/>
          </a:ln>
        </p:spPr>
        <p:txBody>
          <a:bodyPr anchorCtr="0" anchor="ctr" bIns="34275" lIns="68575" spcFirstLastPara="1" rIns="68575" wrap="square" tIns="34275">
            <a:noAutofit/>
          </a:bodyPr>
          <a:lstStyle/>
          <a:p>
            <a:pPr indent="-158750" lvl="0" marL="139700" marR="0" rtl="0" algn="l">
              <a:spcBef>
                <a:spcPts val="0"/>
              </a:spcBef>
              <a:spcAft>
                <a:spcPts val="0"/>
              </a:spcAft>
              <a:buClr>
                <a:srgbClr val="F6F7FB"/>
              </a:buClr>
              <a:buSzPts val="1500"/>
              <a:buFont typeface="Arial"/>
              <a:buChar char="•"/>
            </a:pPr>
            <a:r>
              <a:rPr b="0" i="0" lang="es" sz="1500" u="none" cap="none" strike="noStrike">
                <a:solidFill>
                  <a:srgbClr val="F6F7FB"/>
                </a:solidFill>
                <a:latin typeface="Arial"/>
                <a:ea typeface="Arial"/>
                <a:cs typeface="Arial"/>
                <a:sym typeface="Arial"/>
              </a:rPr>
              <a:t>Los algoritmos se implementaron manualmente en ambos lenguajes.</a:t>
            </a:r>
            <a:endParaRPr b="0" i="0" sz="15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t/>
            </a:r>
            <a:endParaRPr sz="1500">
              <a:solidFill>
                <a:srgbClr val="F6F7FB"/>
              </a:solidFill>
            </a:endParaRPr>
          </a:p>
          <a:p>
            <a:pPr indent="-158750" lvl="0" marL="139700" marR="0" rtl="0" algn="l">
              <a:spcBef>
                <a:spcPts val="0"/>
              </a:spcBef>
              <a:spcAft>
                <a:spcPts val="0"/>
              </a:spcAft>
              <a:buClr>
                <a:srgbClr val="F6F7FB"/>
              </a:buClr>
              <a:buSzPts val="1500"/>
              <a:buFont typeface="Arial"/>
              <a:buChar char="•"/>
            </a:pPr>
            <a:r>
              <a:rPr b="0" i="0" lang="es" sz="1500" u="none" cap="none" strike="noStrike">
                <a:solidFill>
                  <a:srgbClr val="F6F7FB"/>
                </a:solidFill>
                <a:latin typeface="Arial"/>
                <a:ea typeface="Arial"/>
                <a:cs typeface="Arial"/>
                <a:sym typeface="Arial"/>
              </a:rPr>
              <a:t>No se usaron funciones </a:t>
            </a:r>
            <a:r>
              <a:rPr lang="es" sz="1500">
                <a:solidFill>
                  <a:srgbClr val="F6F7FB"/>
                </a:solidFill>
              </a:rPr>
              <a:t>de ordenamiento</a:t>
            </a:r>
            <a:r>
              <a:rPr b="0" i="0" lang="es" sz="1500" u="none" cap="none" strike="noStrike">
                <a:solidFill>
                  <a:srgbClr val="F6F7FB"/>
                </a:solidFill>
                <a:latin typeface="Arial"/>
                <a:ea typeface="Arial"/>
                <a:cs typeface="Arial"/>
                <a:sym typeface="Arial"/>
              </a:rPr>
              <a:t> propias del lenguaje.</a:t>
            </a:r>
            <a:endParaRPr b="0" i="0" sz="15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t/>
            </a:r>
            <a:endParaRPr sz="1500">
              <a:solidFill>
                <a:srgbClr val="F6F7FB"/>
              </a:solidFill>
            </a:endParaRPr>
          </a:p>
          <a:p>
            <a:pPr indent="-158750" lvl="0" marL="139700" marR="0" rtl="0" algn="l">
              <a:spcBef>
                <a:spcPts val="0"/>
              </a:spcBef>
              <a:spcAft>
                <a:spcPts val="0"/>
              </a:spcAft>
              <a:buClr>
                <a:srgbClr val="F6F7FB"/>
              </a:buClr>
              <a:buSzPts val="1500"/>
              <a:buFont typeface="Arial"/>
              <a:buChar char="•"/>
            </a:pPr>
            <a:r>
              <a:rPr b="0" i="0" lang="es" sz="1500" u="none" cap="none" strike="noStrike">
                <a:solidFill>
                  <a:srgbClr val="F6F7FB"/>
                </a:solidFill>
                <a:latin typeface="Arial"/>
                <a:ea typeface="Arial"/>
                <a:cs typeface="Arial"/>
                <a:sym typeface="Arial"/>
              </a:rPr>
              <a:t>Cada medición se repitió 5 veces.</a:t>
            </a:r>
            <a:endParaRPr b="0" i="0" sz="15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t/>
            </a:r>
            <a:endParaRPr sz="1500">
              <a:solidFill>
                <a:srgbClr val="F6F7FB"/>
              </a:solidFill>
            </a:endParaRPr>
          </a:p>
          <a:p>
            <a:pPr indent="-158750" lvl="0" marL="139700" marR="0" rtl="0" algn="l">
              <a:spcBef>
                <a:spcPts val="0"/>
              </a:spcBef>
              <a:spcAft>
                <a:spcPts val="0"/>
              </a:spcAft>
              <a:buClr>
                <a:srgbClr val="F6F7FB"/>
              </a:buClr>
              <a:buSzPts val="1500"/>
              <a:buFont typeface="Arial"/>
              <a:buChar char="•"/>
            </a:pPr>
            <a:r>
              <a:rPr b="0" i="0" lang="es" sz="1500" u="none" cap="none" strike="noStrike">
                <a:solidFill>
                  <a:srgbClr val="F6F7FB"/>
                </a:solidFill>
                <a:latin typeface="Arial"/>
                <a:ea typeface="Arial"/>
                <a:cs typeface="Arial"/>
                <a:sym typeface="Arial"/>
              </a:rPr>
              <a:t>Se informó el tiempo promedio en milisegundos.</a:t>
            </a:r>
            <a:endParaRPr b="0" i="0" sz="15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t/>
            </a:r>
            <a:endParaRPr sz="1500">
              <a:solidFill>
                <a:srgbClr val="F6F7FB"/>
              </a:solidFill>
            </a:endParaRPr>
          </a:p>
          <a:p>
            <a:pPr indent="0" lvl="0" marL="0" marR="0" rtl="0" algn="l">
              <a:spcBef>
                <a:spcPts val="0"/>
              </a:spcBef>
              <a:spcAft>
                <a:spcPts val="0"/>
              </a:spcAft>
              <a:buNone/>
            </a:pPr>
            <a:r>
              <a:rPr lang="es" sz="1500">
                <a:solidFill>
                  <a:srgbClr val="F6F7FB"/>
                </a:solidFill>
              </a:rPr>
              <a:t> • Los valores pueden variar entre ejecuciones, por eso usamos promedios.</a:t>
            </a:r>
            <a:endParaRPr sz="1500">
              <a:solidFill>
                <a:srgbClr val="F6F7F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51F"/>
        </a:solidFill>
      </p:bgPr>
    </p:bg>
    <p:spTree>
      <p:nvGrpSpPr>
        <p:cNvPr id="354" name="Shape 354"/>
        <p:cNvGrpSpPr/>
        <p:nvPr/>
      </p:nvGrpSpPr>
      <p:grpSpPr>
        <a:xfrm>
          <a:off x="0" y="0"/>
          <a:ext cx="0" cy="0"/>
          <a:chOff x="0" y="0"/>
          <a:chExt cx="0" cy="0"/>
        </a:xfrm>
      </p:grpSpPr>
      <p:sp>
        <p:nvSpPr>
          <p:cNvPr id="355" name="Google Shape;355;p28"/>
          <p:cNvSpPr/>
          <p:nvPr/>
        </p:nvSpPr>
        <p:spPr>
          <a:xfrm>
            <a:off x="377190" y="260604"/>
            <a:ext cx="836676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B"/>
              </a:buClr>
              <a:buSzPts val="1900"/>
              <a:buFont typeface="Play"/>
              <a:buNone/>
            </a:pPr>
            <a:r>
              <a:rPr b="1" i="0" lang="es" sz="1900" u="none" cap="none" strike="noStrike">
                <a:solidFill>
                  <a:srgbClr val="F6F7FB"/>
                </a:solidFill>
                <a:latin typeface="Play"/>
                <a:ea typeface="Play"/>
                <a:cs typeface="Play"/>
                <a:sym typeface="Play"/>
              </a:rPr>
              <a:t>Resultados obtenidos</a:t>
            </a:r>
            <a:endParaRPr b="0" i="0" sz="1900" u="none" cap="none" strike="noStrike">
              <a:solidFill>
                <a:schemeClr val="dk1"/>
              </a:solidFill>
              <a:latin typeface="Arial"/>
              <a:ea typeface="Arial"/>
              <a:cs typeface="Arial"/>
              <a:sym typeface="Arial"/>
            </a:endParaRPr>
          </a:p>
        </p:txBody>
      </p:sp>
      <p:sp>
        <p:nvSpPr>
          <p:cNvPr id="356" name="Google Shape;356;p28"/>
          <p:cNvSpPr/>
          <p:nvPr/>
        </p:nvSpPr>
        <p:spPr>
          <a:xfrm>
            <a:off x="390906" y="603504"/>
            <a:ext cx="81610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BD8"/>
              </a:buClr>
              <a:buSzPts val="800"/>
              <a:buFont typeface="Arial"/>
              <a:buNone/>
            </a:pPr>
            <a:r>
              <a:rPr b="0" i="0" lang="es" sz="800" u="none" cap="none" strike="noStrike">
                <a:solidFill>
                  <a:srgbClr val="C7CBD8"/>
                </a:solidFill>
                <a:latin typeface="Arial"/>
                <a:ea typeface="Arial"/>
                <a:cs typeface="Arial"/>
                <a:sym typeface="Arial"/>
              </a:rPr>
              <a:t>Tiempo promedio en milisegundos</a:t>
            </a:r>
            <a:endParaRPr b="0" i="0" sz="800" u="none" cap="none" strike="noStrike">
              <a:solidFill>
                <a:schemeClr val="dk1"/>
              </a:solidFill>
              <a:latin typeface="Arial"/>
              <a:ea typeface="Arial"/>
              <a:cs typeface="Arial"/>
              <a:sym typeface="Arial"/>
            </a:endParaRPr>
          </a:p>
        </p:txBody>
      </p:sp>
      <p:sp>
        <p:nvSpPr>
          <p:cNvPr id="357" name="Google Shape;357;p28"/>
          <p:cNvSpPr/>
          <p:nvPr/>
        </p:nvSpPr>
        <p:spPr>
          <a:xfrm>
            <a:off x="377190" y="4882896"/>
            <a:ext cx="2743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A8"/>
              </a:buClr>
              <a:buSzPts val="600"/>
              <a:buFont typeface="Arial"/>
              <a:buNone/>
            </a:pPr>
            <a:r>
              <a:rPr b="0" i="0" lang="es" sz="600" u="none" cap="none" strike="noStrike">
                <a:solidFill>
                  <a:srgbClr val="8E93A8"/>
                </a:solidFill>
                <a:latin typeface="Arial"/>
                <a:ea typeface="Arial"/>
                <a:cs typeface="Arial"/>
                <a:sym typeface="Arial"/>
              </a:rPr>
              <a:t>Grupo 15 · Kotlin vs VB.NET · 6</a:t>
            </a:r>
            <a:endParaRPr b="0" i="0" sz="600" u="none" cap="none" strike="noStrike">
              <a:solidFill>
                <a:schemeClr val="dk1"/>
              </a:solidFill>
              <a:latin typeface="Arial"/>
              <a:ea typeface="Arial"/>
              <a:cs typeface="Arial"/>
              <a:sym typeface="Arial"/>
            </a:endParaRPr>
          </a:p>
        </p:txBody>
      </p:sp>
      <p:graphicFrame>
        <p:nvGraphicFramePr>
          <p:cNvPr id="358" name="Google Shape;358;p28"/>
          <p:cNvGraphicFramePr/>
          <p:nvPr/>
        </p:nvGraphicFramePr>
        <p:xfrm>
          <a:off x="377190" y="857250"/>
          <a:ext cx="3000000" cy="3000000"/>
        </p:xfrm>
        <a:graphic>
          <a:graphicData uri="http://schemas.openxmlformats.org/drawingml/2006/table">
            <a:tbl>
              <a:tblPr>
                <a:noFill/>
                <a:tableStyleId>{870980C3-661A-4D39-BCB1-3EE8E9E15DCA}</a:tableStyleId>
              </a:tblPr>
              <a:tblGrid>
                <a:gridCol w="857250"/>
                <a:gridCol w="720075"/>
                <a:gridCol w="720075"/>
                <a:gridCol w="720075"/>
                <a:gridCol w="1028700"/>
              </a:tblGrid>
              <a:tr h="294900">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Algoritmo</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Tamaño</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Kotlin</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VB.NET</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Más rápido</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r>
              <a:tr h="294900">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Bubble</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1.000</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1,</a:t>
                      </a:r>
                      <a:r>
                        <a:rPr lang="es" sz="900">
                          <a:solidFill>
                            <a:srgbClr val="F6F7FB"/>
                          </a:solidFill>
                        </a:rPr>
                        <a:t>5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0,8</a:t>
                      </a:r>
                      <a:r>
                        <a:rPr lang="es" sz="900">
                          <a:solidFill>
                            <a:srgbClr val="F6F7FB"/>
                          </a:solidFill>
                        </a:rPr>
                        <a:t>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VB.NET</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r>
              <a:tr h="294900">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Bubble</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3.000</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a:solidFill>
                            <a:srgbClr val="F6F7FB"/>
                          </a:solidFill>
                        </a:rPr>
                        <a:t>5,0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5,9</a:t>
                      </a:r>
                      <a:r>
                        <a:rPr lang="es" sz="900">
                          <a:solidFill>
                            <a:srgbClr val="F6F7FB"/>
                          </a:solidFill>
                        </a:rPr>
                        <a:t>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Kotlin</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r>
              <a:tr h="294900">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Bubble</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5.000</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a:solidFill>
                            <a:srgbClr val="F6F7FB"/>
                          </a:solidFill>
                        </a:rPr>
                        <a:t>13, 9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18,</a:t>
                      </a:r>
                      <a:r>
                        <a:rPr lang="es" sz="900">
                          <a:solidFill>
                            <a:srgbClr val="F6F7FB"/>
                          </a:solidFill>
                        </a:rPr>
                        <a:t>4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Kotlin</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r>
              <a:tr h="294900">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Quick</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10.000</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a:solidFill>
                            <a:srgbClr val="F6F7FB"/>
                          </a:solidFill>
                        </a:rPr>
                        <a:t>0,8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1,6</a:t>
                      </a:r>
                      <a:r>
                        <a:rPr lang="es" sz="900">
                          <a:solidFill>
                            <a:srgbClr val="F6F7FB"/>
                          </a:solidFill>
                        </a:rPr>
                        <a:t>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Kotlin</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r>
              <a:tr h="294900">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Quick</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50.000</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3,4</a:t>
                      </a:r>
                      <a:r>
                        <a:rPr lang="es" sz="900">
                          <a:solidFill>
                            <a:srgbClr val="F6F7FB"/>
                          </a:solidFill>
                        </a:rPr>
                        <a:t>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6,</a:t>
                      </a:r>
                      <a:r>
                        <a:rPr lang="es" sz="900">
                          <a:solidFill>
                            <a:srgbClr val="F6F7FB"/>
                          </a:solidFill>
                        </a:rPr>
                        <a:t>8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Kotlin</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r>
              <a:tr h="294900">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Quick</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100.000</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7,</a:t>
                      </a:r>
                      <a:r>
                        <a:rPr lang="es" sz="900">
                          <a:solidFill>
                            <a:srgbClr val="F6F7FB"/>
                          </a:solidFill>
                        </a:rPr>
                        <a:t>1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13,</a:t>
                      </a:r>
                      <a:r>
                        <a:rPr lang="es" sz="900">
                          <a:solidFill>
                            <a:srgbClr val="F6F7FB"/>
                          </a:solidFill>
                        </a:rPr>
                        <a:t>3 ms</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c>
                  <a:txBody>
                    <a:bodyPr/>
                    <a:lstStyle/>
                    <a:p>
                      <a:pPr indent="0" lvl="0" marL="0" marR="0" rtl="0" algn="l">
                        <a:spcBef>
                          <a:spcPts val="0"/>
                        </a:spcBef>
                        <a:spcAft>
                          <a:spcPts val="0"/>
                        </a:spcAft>
                        <a:buClr>
                          <a:srgbClr val="F6F7FB"/>
                        </a:buClr>
                        <a:buSzPts val="900"/>
                        <a:buFont typeface="Arial"/>
                        <a:buNone/>
                      </a:pPr>
                      <a:r>
                        <a:rPr lang="es" sz="900" u="none" cap="none" strike="noStrike">
                          <a:solidFill>
                            <a:srgbClr val="F6F7FB"/>
                          </a:solidFill>
                          <a:latin typeface="Arial"/>
                          <a:ea typeface="Arial"/>
                          <a:cs typeface="Arial"/>
                          <a:sym typeface="Arial"/>
                        </a:rPr>
                        <a:t>Kotlin</a:t>
                      </a:r>
                      <a:endParaRPr sz="900" u="none" cap="none" strike="noStrike">
                        <a:latin typeface="Arial"/>
                        <a:ea typeface="Arial"/>
                        <a:cs typeface="Arial"/>
                        <a:sym typeface="Arial"/>
                      </a:endParaRPr>
                    </a:p>
                  </a:txBody>
                  <a:tcPr marT="34300" marB="34300" marR="34300" marL="34300">
                    <a:lnL cap="flat" cmpd="sng" w="9525">
                      <a:solidFill>
                        <a:srgbClr val="3C3F58"/>
                      </a:solidFill>
                      <a:prstDash val="solid"/>
                      <a:round/>
                      <a:headEnd len="sm" w="sm" type="none"/>
                      <a:tailEnd len="sm" w="sm" type="none"/>
                    </a:lnL>
                    <a:lnR cap="flat" cmpd="sng" w="9525">
                      <a:solidFill>
                        <a:srgbClr val="3C3F58"/>
                      </a:solidFill>
                      <a:prstDash val="solid"/>
                      <a:round/>
                      <a:headEnd len="sm" w="sm" type="none"/>
                      <a:tailEnd len="sm" w="sm" type="none"/>
                    </a:lnR>
                    <a:lnT cap="flat" cmpd="sng" w="9525">
                      <a:solidFill>
                        <a:srgbClr val="3C3F58"/>
                      </a:solidFill>
                      <a:prstDash val="solid"/>
                      <a:round/>
                      <a:headEnd len="sm" w="sm" type="none"/>
                      <a:tailEnd len="sm" w="sm" type="none"/>
                    </a:lnT>
                    <a:lnB cap="flat" cmpd="sng" w="9525">
                      <a:solidFill>
                        <a:srgbClr val="3C3F58"/>
                      </a:solidFill>
                      <a:prstDash val="solid"/>
                      <a:round/>
                      <a:headEnd len="sm" w="sm" type="none"/>
                      <a:tailEnd len="sm" w="sm" type="none"/>
                    </a:lnB>
                    <a:solidFill>
                      <a:srgbClr val="15151F"/>
                    </a:solidFill>
                  </a:tcPr>
                </a:tc>
              </a:tr>
            </a:tbl>
          </a:graphicData>
        </a:graphic>
      </p:graphicFrame>
      <p:sp>
        <p:nvSpPr>
          <p:cNvPr id="359" name="Google Shape;359;p28"/>
          <p:cNvSpPr/>
          <p:nvPr/>
        </p:nvSpPr>
        <p:spPr>
          <a:xfrm>
            <a:off x="377200" y="857250"/>
            <a:ext cx="4046100" cy="308700"/>
          </a:xfrm>
          <a:prstGeom prst="rect">
            <a:avLst/>
          </a:prstGeom>
          <a:solidFill>
            <a:srgbClr val="2D2E43"/>
          </a:solidFill>
          <a:ln cap="flat" cmpd="sng" w="12700">
            <a:solidFill>
              <a:srgbClr val="3C3F58">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0" name="Google Shape;360;p28"/>
          <p:cNvSpPr/>
          <p:nvPr/>
        </p:nvSpPr>
        <p:spPr>
          <a:xfrm>
            <a:off x="452628" y="932688"/>
            <a:ext cx="4663500" cy="13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B"/>
              </a:buClr>
              <a:buSzPts val="900"/>
              <a:buFont typeface="Arial"/>
              <a:buNone/>
            </a:pPr>
            <a:r>
              <a:rPr b="1" i="0" lang="es" sz="900" u="none" cap="none" strike="noStrike">
                <a:solidFill>
                  <a:srgbClr val="F6F7FB"/>
                </a:solidFill>
                <a:latin typeface="Arial"/>
                <a:ea typeface="Arial"/>
                <a:cs typeface="Arial"/>
                <a:sym typeface="Arial"/>
              </a:rPr>
              <a:t>Algoritmo         Tamaño            Kotlin             VB.NET         Más rápido</a:t>
            </a:r>
            <a:endParaRPr b="0" i="0" sz="900" u="none" cap="none" strike="noStrike">
              <a:solidFill>
                <a:schemeClr val="dk1"/>
              </a:solidFill>
              <a:latin typeface="Arial"/>
              <a:ea typeface="Arial"/>
              <a:cs typeface="Arial"/>
              <a:sym typeface="Arial"/>
            </a:endParaRPr>
          </a:p>
        </p:txBody>
      </p:sp>
      <p:sp>
        <p:nvSpPr>
          <p:cNvPr id="361" name="Google Shape;361;p28"/>
          <p:cNvSpPr/>
          <p:nvPr/>
        </p:nvSpPr>
        <p:spPr>
          <a:xfrm>
            <a:off x="5589270" y="925830"/>
            <a:ext cx="3120390" cy="2846070"/>
          </a:xfrm>
          <a:prstGeom prst="roundRect">
            <a:avLst>
              <a:gd fmla="val 2410" name="adj"/>
            </a:avLst>
          </a:prstGeom>
          <a:solidFill>
            <a:srgbClr val="1F2030"/>
          </a:solidFill>
          <a:ln cap="flat" cmpd="sng" w="12700">
            <a:solidFill>
              <a:srgbClr val="3C3F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2" name="Google Shape;362;p28"/>
          <p:cNvSpPr/>
          <p:nvPr/>
        </p:nvSpPr>
        <p:spPr>
          <a:xfrm>
            <a:off x="5829300" y="1165860"/>
            <a:ext cx="26060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1B2"/>
              </a:buClr>
              <a:buSzPts val="1500"/>
              <a:buFont typeface="Arial"/>
              <a:buNone/>
            </a:pPr>
            <a:r>
              <a:rPr b="1" lang="es" sz="1500">
                <a:solidFill>
                  <a:srgbClr val="00D1B2"/>
                </a:solidFill>
              </a:rPr>
              <a:t>Observaciones :</a:t>
            </a:r>
            <a:endParaRPr b="0" i="0" sz="1500" u="none" cap="none" strike="noStrike">
              <a:solidFill>
                <a:schemeClr val="dk1"/>
              </a:solidFill>
              <a:latin typeface="Arial"/>
              <a:ea typeface="Arial"/>
              <a:cs typeface="Arial"/>
              <a:sym typeface="Arial"/>
            </a:endParaRPr>
          </a:p>
        </p:txBody>
      </p:sp>
      <p:sp>
        <p:nvSpPr>
          <p:cNvPr id="363" name="Google Shape;363;p28"/>
          <p:cNvSpPr/>
          <p:nvPr/>
        </p:nvSpPr>
        <p:spPr>
          <a:xfrm>
            <a:off x="5829300" y="1543050"/>
            <a:ext cx="2537460" cy="1748790"/>
          </a:xfrm>
          <a:prstGeom prst="rect">
            <a:avLst/>
          </a:prstGeom>
          <a:noFill/>
          <a:ln>
            <a:noFill/>
          </a:ln>
        </p:spPr>
        <p:txBody>
          <a:bodyPr anchorCtr="0" anchor="ctr" bIns="34275" lIns="68575" spcFirstLastPara="1" rIns="68575" wrap="square" tIns="34275">
            <a:noAutofit/>
          </a:bodyPr>
          <a:lstStyle/>
          <a:p>
            <a:pPr indent="-133350" lvl="0" marL="139700" marR="0" rtl="0" algn="l">
              <a:spcBef>
                <a:spcPts val="0"/>
              </a:spcBef>
              <a:spcAft>
                <a:spcPts val="0"/>
              </a:spcAft>
              <a:buClr>
                <a:srgbClr val="F6F7FB"/>
              </a:buClr>
              <a:buSzPts val="1100"/>
              <a:buFont typeface="Arial"/>
              <a:buChar char="•"/>
            </a:pPr>
            <a:r>
              <a:rPr b="0" i="0" lang="es" sz="1100" u="none" cap="none" strike="noStrike">
                <a:solidFill>
                  <a:srgbClr val="F6F7FB"/>
                </a:solidFill>
                <a:latin typeface="Arial"/>
                <a:ea typeface="Arial"/>
                <a:cs typeface="Arial"/>
                <a:sym typeface="Arial"/>
              </a:rPr>
              <a:t>Kotlin fue más rápido en 5 de 6 pruebas.</a:t>
            </a:r>
            <a:endParaRPr b="0" i="0" sz="1100" u="none" cap="none" strike="noStrike">
              <a:solidFill>
                <a:schemeClr val="dk1"/>
              </a:solidFill>
              <a:latin typeface="Arial"/>
              <a:ea typeface="Arial"/>
              <a:cs typeface="Arial"/>
              <a:sym typeface="Arial"/>
            </a:endParaRPr>
          </a:p>
          <a:p>
            <a:pPr indent="-133350" lvl="0" marL="139700" marR="0" rtl="0" algn="l">
              <a:spcBef>
                <a:spcPts val="0"/>
              </a:spcBef>
              <a:spcAft>
                <a:spcPts val="0"/>
              </a:spcAft>
              <a:buClr>
                <a:srgbClr val="F6F7FB"/>
              </a:buClr>
              <a:buSzPts val="1100"/>
              <a:buFont typeface="Arial"/>
              <a:buChar char="•"/>
            </a:pPr>
            <a:r>
              <a:rPr b="0" i="0" lang="es" sz="1100" u="none" cap="none" strike="noStrike">
                <a:solidFill>
                  <a:srgbClr val="F6F7FB"/>
                </a:solidFill>
                <a:latin typeface="Arial"/>
                <a:ea typeface="Arial"/>
                <a:cs typeface="Arial"/>
                <a:sym typeface="Arial"/>
              </a:rPr>
              <a:t>Quick Sort tuvo mejores tiempos para tamaños grandes.</a:t>
            </a:r>
            <a:endParaRPr b="0" i="0" sz="1100" u="none" cap="none" strike="noStrike">
              <a:solidFill>
                <a:schemeClr val="dk1"/>
              </a:solidFill>
              <a:latin typeface="Arial"/>
              <a:ea typeface="Arial"/>
              <a:cs typeface="Arial"/>
              <a:sym typeface="Arial"/>
            </a:endParaRPr>
          </a:p>
          <a:p>
            <a:pPr indent="-133350" lvl="0" marL="139700" marR="0" rtl="0" algn="l">
              <a:spcBef>
                <a:spcPts val="0"/>
              </a:spcBef>
              <a:spcAft>
                <a:spcPts val="0"/>
              </a:spcAft>
              <a:buClr>
                <a:srgbClr val="F6F7FB"/>
              </a:buClr>
              <a:buSzPts val="1100"/>
              <a:buFont typeface="Arial"/>
              <a:buChar char="•"/>
            </a:pPr>
            <a:r>
              <a:rPr b="0" i="0" lang="es" sz="1100" u="none" cap="none" strike="noStrike">
                <a:solidFill>
                  <a:srgbClr val="F6F7FB"/>
                </a:solidFill>
                <a:latin typeface="Arial"/>
                <a:ea typeface="Arial"/>
                <a:cs typeface="Arial"/>
                <a:sym typeface="Arial"/>
              </a:rPr>
              <a:t>Bubble Sort se usó con tamaños menores porque crece mucho más rápido.</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51F"/>
        </a:solidFill>
      </p:bgPr>
    </p:bg>
    <p:spTree>
      <p:nvGrpSpPr>
        <p:cNvPr id="368" name="Shape 368"/>
        <p:cNvGrpSpPr/>
        <p:nvPr/>
      </p:nvGrpSpPr>
      <p:grpSpPr>
        <a:xfrm>
          <a:off x="0" y="0"/>
          <a:ext cx="0" cy="0"/>
          <a:chOff x="0" y="0"/>
          <a:chExt cx="0" cy="0"/>
        </a:xfrm>
      </p:grpSpPr>
      <p:sp>
        <p:nvSpPr>
          <p:cNvPr id="369" name="Google Shape;369;p29"/>
          <p:cNvSpPr/>
          <p:nvPr/>
        </p:nvSpPr>
        <p:spPr>
          <a:xfrm>
            <a:off x="377190" y="260604"/>
            <a:ext cx="836676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B"/>
              </a:buClr>
              <a:buSzPts val="1900"/>
              <a:buFont typeface="Play"/>
              <a:buNone/>
            </a:pPr>
            <a:r>
              <a:rPr b="1" i="0" lang="es" sz="1900" u="none" cap="none" strike="noStrike">
                <a:solidFill>
                  <a:srgbClr val="F6F7FB"/>
                </a:solidFill>
                <a:latin typeface="Play"/>
                <a:ea typeface="Play"/>
                <a:cs typeface="Play"/>
                <a:sym typeface="Play"/>
              </a:rPr>
              <a:t>Conclusión</a:t>
            </a:r>
            <a:endParaRPr b="0" i="0" sz="1900" u="none" cap="none" strike="noStrike">
              <a:solidFill>
                <a:schemeClr val="dk1"/>
              </a:solidFill>
              <a:latin typeface="Arial"/>
              <a:ea typeface="Arial"/>
              <a:cs typeface="Arial"/>
              <a:sym typeface="Arial"/>
            </a:endParaRPr>
          </a:p>
        </p:txBody>
      </p:sp>
      <p:sp>
        <p:nvSpPr>
          <p:cNvPr id="370" name="Google Shape;370;p29"/>
          <p:cNvSpPr/>
          <p:nvPr/>
        </p:nvSpPr>
        <p:spPr>
          <a:xfrm>
            <a:off x="390906" y="603504"/>
            <a:ext cx="81610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BD8"/>
              </a:buClr>
              <a:buSzPts val="800"/>
              <a:buFont typeface="Arial"/>
              <a:buNone/>
            </a:pPr>
            <a:r>
              <a:rPr b="0" i="0" lang="es" sz="800" u="none" cap="none" strike="noStrike">
                <a:solidFill>
                  <a:srgbClr val="C7CBD8"/>
                </a:solidFill>
                <a:latin typeface="Arial"/>
                <a:ea typeface="Arial"/>
                <a:cs typeface="Arial"/>
                <a:sym typeface="Arial"/>
              </a:rPr>
              <a:t>Resultado principal del benchmark</a:t>
            </a:r>
            <a:endParaRPr b="0" i="0" sz="800" u="none" cap="none" strike="noStrike">
              <a:solidFill>
                <a:schemeClr val="dk1"/>
              </a:solidFill>
              <a:latin typeface="Arial"/>
              <a:ea typeface="Arial"/>
              <a:cs typeface="Arial"/>
              <a:sym typeface="Arial"/>
            </a:endParaRPr>
          </a:p>
        </p:txBody>
      </p:sp>
      <p:sp>
        <p:nvSpPr>
          <p:cNvPr id="371" name="Google Shape;371;p29"/>
          <p:cNvSpPr/>
          <p:nvPr/>
        </p:nvSpPr>
        <p:spPr>
          <a:xfrm>
            <a:off x="377190" y="4882896"/>
            <a:ext cx="27432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A8"/>
              </a:buClr>
              <a:buSzPts val="600"/>
              <a:buFont typeface="Arial"/>
              <a:buNone/>
            </a:pPr>
            <a:r>
              <a:rPr b="0" i="0" lang="es" sz="600" u="none" cap="none" strike="noStrike">
                <a:solidFill>
                  <a:srgbClr val="8E93A8"/>
                </a:solidFill>
                <a:latin typeface="Arial"/>
                <a:ea typeface="Arial"/>
                <a:cs typeface="Arial"/>
                <a:sym typeface="Arial"/>
              </a:rPr>
              <a:t>Grupo 15 · Kotlin vs VB.NET · 8</a:t>
            </a:r>
            <a:endParaRPr b="0" i="0" sz="600" u="none" cap="none" strike="noStrike">
              <a:solidFill>
                <a:schemeClr val="dk1"/>
              </a:solidFill>
              <a:latin typeface="Arial"/>
              <a:ea typeface="Arial"/>
              <a:cs typeface="Arial"/>
              <a:sym typeface="Arial"/>
            </a:endParaRPr>
          </a:p>
        </p:txBody>
      </p:sp>
      <p:sp>
        <p:nvSpPr>
          <p:cNvPr id="372" name="Google Shape;372;p29"/>
          <p:cNvSpPr/>
          <p:nvPr/>
        </p:nvSpPr>
        <p:spPr>
          <a:xfrm>
            <a:off x="582930" y="994410"/>
            <a:ext cx="7955280" cy="2606040"/>
          </a:xfrm>
          <a:prstGeom prst="roundRect">
            <a:avLst>
              <a:gd fmla="val 2632" name="adj"/>
            </a:avLst>
          </a:prstGeom>
          <a:solidFill>
            <a:srgbClr val="1F2030"/>
          </a:solidFill>
          <a:ln cap="flat" cmpd="sng" w="12700">
            <a:solidFill>
              <a:srgbClr val="3C3F5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3" name="Google Shape;373;p29"/>
          <p:cNvSpPr/>
          <p:nvPr/>
        </p:nvSpPr>
        <p:spPr>
          <a:xfrm>
            <a:off x="857250" y="1268730"/>
            <a:ext cx="7338060" cy="1920240"/>
          </a:xfrm>
          <a:prstGeom prst="rect">
            <a:avLst/>
          </a:prstGeom>
          <a:noFill/>
          <a:ln>
            <a:noFill/>
          </a:ln>
        </p:spPr>
        <p:txBody>
          <a:bodyPr anchorCtr="0" anchor="ctr" bIns="34275" lIns="68575" spcFirstLastPara="1" rIns="68575" wrap="square" tIns="34275">
            <a:noAutofit/>
          </a:bodyPr>
          <a:lstStyle/>
          <a:p>
            <a:pPr indent="-139700" lvl="0" marL="139700" marR="0" rtl="0" algn="l">
              <a:spcBef>
                <a:spcPts val="0"/>
              </a:spcBef>
              <a:spcAft>
                <a:spcPts val="0"/>
              </a:spcAft>
              <a:buClr>
                <a:srgbClr val="F6F7FB"/>
              </a:buClr>
              <a:buSzPts val="1400"/>
              <a:buFont typeface="Arial"/>
              <a:buChar char="•"/>
            </a:pPr>
            <a:r>
              <a:rPr b="0" i="0" lang="es" sz="1400" u="none" cap="none" strike="noStrike">
                <a:solidFill>
                  <a:srgbClr val="F6F7FB"/>
                </a:solidFill>
                <a:latin typeface="Arial"/>
                <a:ea typeface="Arial"/>
                <a:cs typeface="Arial"/>
                <a:sym typeface="Arial"/>
              </a:rPr>
              <a:t>Quick Sort fue más eficiente que Bubble Sort.</a:t>
            </a:r>
            <a:endParaRPr b="0" i="0" sz="14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t/>
            </a:r>
            <a:endParaRPr>
              <a:solidFill>
                <a:srgbClr val="F6F7FB"/>
              </a:solidFill>
            </a:endParaRPr>
          </a:p>
          <a:p>
            <a:pPr indent="-139700" lvl="0" marL="139700" marR="0" rtl="0" algn="l">
              <a:spcBef>
                <a:spcPts val="0"/>
              </a:spcBef>
              <a:spcAft>
                <a:spcPts val="0"/>
              </a:spcAft>
              <a:buClr>
                <a:srgbClr val="F6F7FB"/>
              </a:buClr>
              <a:buSzPts val="1400"/>
              <a:buFont typeface="Arial"/>
              <a:buChar char="•"/>
            </a:pPr>
            <a:r>
              <a:rPr b="0" i="0" lang="es" sz="1400" u="none" cap="none" strike="noStrike">
                <a:solidFill>
                  <a:srgbClr val="F6F7FB"/>
                </a:solidFill>
                <a:latin typeface="Arial"/>
                <a:ea typeface="Arial"/>
                <a:cs typeface="Arial"/>
                <a:sym typeface="Arial"/>
              </a:rPr>
              <a:t>Kotlin fue más rápido en la mayoría de nuestras mediciones.</a:t>
            </a:r>
            <a:endParaRPr b="0" i="0" sz="14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t/>
            </a:r>
            <a:endParaRPr>
              <a:solidFill>
                <a:srgbClr val="F6F7FB"/>
              </a:solidFill>
            </a:endParaRPr>
          </a:p>
          <a:p>
            <a:pPr indent="-139700" lvl="0" marL="139700" marR="0" rtl="0" algn="l">
              <a:spcBef>
                <a:spcPts val="0"/>
              </a:spcBef>
              <a:spcAft>
                <a:spcPts val="0"/>
              </a:spcAft>
              <a:buClr>
                <a:srgbClr val="F6F7FB"/>
              </a:buClr>
              <a:buSzPts val="1400"/>
              <a:buFont typeface="Arial"/>
              <a:buChar char="•"/>
            </a:pPr>
            <a:r>
              <a:rPr b="0" i="0" lang="es" sz="1400" u="none" cap="none" strike="noStrike">
                <a:solidFill>
                  <a:srgbClr val="F6F7FB"/>
                </a:solidFill>
                <a:latin typeface="Arial"/>
                <a:ea typeface="Arial"/>
                <a:cs typeface="Arial"/>
                <a:sym typeface="Arial"/>
              </a:rPr>
              <a:t>El rendimiento depende del lenguaje, pero también del algoritmo, la implementación y el entorno.</a:t>
            </a:r>
            <a:endParaRPr b="0" i="0" sz="1400" u="none" cap="none" strike="noStrike">
              <a:solidFill>
                <a:srgbClr val="F6F7FB"/>
              </a:solidFill>
              <a:latin typeface="Arial"/>
              <a:ea typeface="Arial"/>
              <a:cs typeface="Arial"/>
              <a:sym typeface="Arial"/>
            </a:endParaRPr>
          </a:p>
          <a:p>
            <a:pPr indent="0" lvl="0" marL="457200" marR="0" rtl="0" algn="l">
              <a:spcBef>
                <a:spcPts val="0"/>
              </a:spcBef>
              <a:spcAft>
                <a:spcPts val="0"/>
              </a:spcAft>
              <a:buNone/>
            </a:pPr>
            <a:r>
              <a:t/>
            </a:r>
            <a:endParaRPr>
              <a:solidFill>
                <a:srgbClr val="F6F7FB"/>
              </a:solidFill>
            </a:endParaRPr>
          </a:p>
          <a:p>
            <a:pPr indent="-139700" lvl="0" marL="139700" marR="0" rtl="0" algn="l">
              <a:spcBef>
                <a:spcPts val="0"/>
              </a:spcBef>
              <a:spcAft>
                <a:spcPts val="0"/>
              </a:spcAft>
              <a:buClr>
                <a:srgbClr val="F6F7FB"/>
              </a:buClr>
              <a:buSzPts val="1400"/>
              <a:buFont typeface="Arial"/>
              <a:buChar char="•"/>
            </a:pPr>
            <a:r>
              <a:rPr b="0" i="0" lang="es" sz="1400" u="none" cap="none" strike="noStrike">
                <a:solidFill>
                  <a:srgbClr val="F6F7FB"/>
                </a:solidFill>
                <a:latin typeface="Arial"/>
                <a:ea typeface="Arial"/>
                <a:cs typeface="Arial"/>
                <a:sym typeface="Arial"/>
              </a:rPr>
              <a:t>La elección del algoritmo puede impactar más que la elección del lenguaje.</a:t>
            </a:r>
            <a:endParaRPr b="0" i="0" sz="1400" u="none" cap="none" strike="noStrike">
              <a:solidFill>
                <a:schemeClr val="dk1"/>
              </a:solidFill>
              <a:latin typeface="Arial"/>
              <a:ea typeface="Arial"/>
              <a:cs typeface="Arial"/>
              <a:sym typeface="Arial"/>
            </a:endParaRPr>
          </a:p>
        </p:txBody>
      </p:sp>
      <p:sp>
        <p:nvSpPr>
          <p:cNvPr id="374" name="Google Shape;374;p29"/>
          <p:cNvSpPr/>
          <p:nvPr/>
        </p:nvSpPr>
        <p:spPr>
          <a:xfrm>
            <a:off x="651510" y="3977640"/>
            <a:ext cx="1371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1B2"/>
              </a:buClr>
              <a:buSzPts val="900"/>
              <a:buFont typeface="Arial"/>
              <a:buNone/>
            </a:pPr>
            <a:r>
              <a:t/>
            </a:r>
            <a:endParaRPr b="0" i="0" sz="900" u="none" cap="none" strike="noStrike">
              <a:solidFill>
                <a:schemeClr val="dk1"/>
              </a:solidFill>
              <a:latin typeface="Arial"/>
              <a:ea typeface="Arial"/>
              <a:cs typeface="Arial"/>
              <a:sym typeface="Arial"/>
            </a:endParaRPr>
          </a:p>
        </p:txBody>
      </p:sp>
      <p:sp>
        <p:nvSpPr>
          <p:cNvPr id="375" name="Google Shape;375;p29"/>
          <p:cNvSpPr/>
          <p:nvPr/>
        </p:nvSpPr>
        <p:spPr>
          <a:xfrm>
            <a:off x="651510" y="4217670"/>
            <a:ext cx="76809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BD8"/>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0"/>
          <p:cNvSpPr txBox="1"/>
          <p:nvPr>
            <p:ph type="title"/>
          </p:nvPr>
        </p:nvSpPr>
        <p:spPr>
          <a:xfrm>
            <a:off x="1052550" y="40817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Preguntas</a:t>
            </a:r>
            <a:endParaRPr/>
          </a:p>
        </p:txBody>
      </p:sp>
      <p:sp>
        <p:nvSpPr>
          <p:cNvPr id="381" name="Google Shape;381;p30"/>
          <p:cNvSpPr txBox="1"/>
          <p:nvPr>
            <p:ph idx="1" type="body"/>
          </p:nvPr>
        </p:nvSpPr>
        <p:spPr>
          <a:xfrm>
            <a:off x="274575" y="1221400"/>
            <a:ext cx="7164600" cy="322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
        <p:nvSpPr>
          <p:cNvPr id="382" name="Google Shape;382;p30"/>
          <p:cNvSpPr txBox="1"/>
          <p:nvPr/>
        </p:nvSpPr>
        <p:spPr>
          <a:xfrm>
            <a:off x="509075" y="1392350"/>
            <a:ext cx="76311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500">
                <a:solidFill>
                  <a:schemeClr val="lt1"/>
                </a:solidFill>
                <a:latin typeface="Lato"/>
                <a:ea typeface="Lato"/>
                <a:cs typeface="Lato"/>
                <a:sym typeface="Lato"/>
              </a:rPr>
              <a:t>1. ¿Qué lenguaje tuvo mejor rendimiento en las pruebas?</a:t>
            </a:r>
            <a:endParaRPr sz="1300">
              <a:solidFill>
                <a:schemeClr val="lt1"/>
              </a:solidFill>
              <a:latin typeface="Lato"/>
              <a:ea typeface="Lato"/>
              <a:cs typeface="Lato"/>
              <a:sym typeface="Lato"/>
            </a:endParaRPr>
          </a:p>
        </p:txBody>
      </p:sp>
      <p:sp>
        <p:nvSpPr>
          <p:cNvPr id="383" name="Google Shape;383;p30"/>
          <p:cNvSpPr txBox="1"/>
          <p:nvPr/>
        </p:nvSpPr>
        <p:spPr>
          <a:xfrm>
            <a:off x="509075" y="2340950"/>
            <a:ext cx="7371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500">
                <a:solidFill>
                  <a:schemeClr val="lt1"/>
                </a:solidFill>
                <a:latin typeface="Lato"/>
                <a:ea typeface="Lato"/>
                <a:cs typeface="Lato"/>
                <a:sym typeface="Lato"/>
              </a:rPr>
              <a:t>2. ¿Qué algoritmo fue más eficiente y por qué?</a:t>
            </a:r>
            <a:endParaRPr sz="1300">
              <a:solidFill>
                <a:schemeClr val="lt1"/>
              </a:solidFill>
              <a:latin typeface="Lato"/>
              <a:ea typeface="Lato"/>
              <a:cs typeface="Lato"/>
              <a:sym typeface="Lato"/>
            </a:endParaRPr>
          </a:p>
        </p:txBody>
      </p:sp>
      <p:sp>
        <p:nvSpPr>
          <p:cNvPr id="384" name="Google Shape;384;p30"/>
          <p:cNvSpPr txBox="1"/>
          <p:nvPr/>
        </p:nvSpPr>
        <p:spPr>
          <a:xfrm>
            <a:off x="480275" y="3510300"/>
            <a:ext cx="74295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500">
                <a:solidFill>
                  <a:schemeClr val="lt1"/>
                </a:solidFill>
                <a:latin typeface="Lato"/>
                <a:ea typeface="Lato"/>
                <a:cs typeface="Lato"/>
                <a:sym typeface="Lato"/>
              </a:rPr>
              <a:t>3. ¿Por qué no alcanza con medir una sola ejecución?</a:t>
            </a:r>
            <a:endParaRPr sz="1300">
              <a:solidFill>
                <a:schemeClr val="lt1"/>
              </a:solidFill>
              <a:latin typeface="Lato"/>
              <a:ea typeface="Lato"/>
              <a:cs typeface="Lato"/>
              <a:sym typeface="Lato"/>
            </a:endParaRPr>
          </a:p>
        </p:txBody>
      </p:sp>
      <p:sp>
        <p:nvSpPr>
          <p:cNvPr id="385" name="Google Shape;385;p30"/>
          <p:cNvSpPr txBox="1"/>
          <p:nvPr/>
        </p:nvSpPr>
        <p:spPr>
          <a:xfrm>
            <a:off x="691575" y="1807850"/>
            <a:ext cx="74295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1300">
                <a:solidFill>
                  <a:schemeClr val="lt2"/>
                </a:solidFill>
              </a:rPr>
              <a:t>Kotlin tuvo mejor rendimiento en la mayoría de los casos, especialmente con Quick Sort.</a:t>
            </a:r>
            <a:r>
              <a:rPr lang="es" sz="1300">
                <a:solidFill>
                  <a:schemeClr val="lt2"/>
                </a:solidFill>
              </a:rPr>
              <a:t> </a:t>
            </a:r>
            <a:endParaRPr sz="1300">
              <a:solidFill>
                <a:schemeClr val="lt1"/>
              </a:solidFill>
              <a:latin typeface="Lato"/>
              <a:ea typeface="Lato"/>
              <a:cs typeface="Lato"/>
              <a:sym typeface="Lato"/>
            </a:endParaRPr>
          </a:p>
        </p:txBody>
      </p:sp>
      <p:sp>
        <p:nvSpPr>
          <p:cNvPr id="386" name="Google Shape;386;p30"/>
          <p:cNvSpPr txBox="1"/>
          <p:nvPr/>
        </p:nvSpPr>
        <p:spPr>
          <a:xfrm>
            <a:off x="864550" y="2756450"/>
            <a:ext cx="7602300" cy="84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1300">
                <a:solidFill>
                  <a:schemeClr val="lt2"/>
                </a:solidFill>
              </a:rPr>
              <a:t>El algoritmo más eficiente fue Quick Sort, porque divide el arreglo en partes más chicas y ordena cada parte, mientras que Bubble Sort compara muchos elementos vecinos repetidamente. </a:t>
            </a:r>
            <a:endParaRPr sz="1300">
              <a:solidFill>
                <a:schemeClr val="lt1"/>
              </a:solidFill>
              <a:latin typeface="Lato"/>
              <a:ea typeface="Lato"/>
              <a:cs typeface="Lato"/>
              <a:sym typeface="Lato"/>
            </a:endParaRPr>
          </a:p>
        </p:txBody>
      </p:sp>
      <p:sp>
        <p:nvSpPr>
          <p:cNvPr id="387" name="Google Shape;387;p30"/>
          <p:cNvSpPr txBox="1"/>
          <p:nvPr/>
        </p:nvSpPr>
        <p:spPr>
          <a:xfrm>
            <a:off x="857350" y="3925800"/>
            <a:ext cx="7616700" cy="6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a:solidFill>
                  <a:schemeClr val="lt2"/>
                </a:solidFill>
                <a:latin typeface="Lato"/>
                <a:ea typeface="Lato"/>
                <a:cs typeface="Lato"/>
                <a:sym typeface="Lato"/>
              </a:rPr>
              <a:t>Porque el tiempo puede variar entre ejecuciones según la actividad de la computadora. </a:t>
            </a:r>
            <a:r>
              <a:rPr b="1" lang="es">
                <a:solidFill>
                  <a:schemeClr val="lt2"/>
                </a:solidFill>
                <a:latin typeface="Lato"/>
                <a:ea typeface="Lato"/>
                <a:cs typeface="Lato"/>
                <a:sym typeface="Lato"/>
              </a:rPr>
              <a:t> Por eso usamos varias repeticiones y un promedio.</a:t>
            </a:r>
            <a:r>
              <a:rPr b="1" lang="es" sz="1600">
                <a:solidFill>
                  <a:schemeClr val="lt1"/>
                </a:solidFill>
                <a:latin typeface="Lato"/>
                <a:ea typeface="Lato"/>
                <a:cs typeface="Lato"/>
                <a:sym typeface="Lato"/>
              </a:rPr>
              <a:t> </a:t>
            </a:r>
            <a:endParaRPr sz="13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